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96" r:id="rId3"/>
    <p:sldId id="290" r:id="rId4"/>
    <p:sldId id="291" r:id="rId5"/>
    <p:sldId id="297" r:id="rId6"/>
    <p:sldId id="293" r:id="rId7"/>
    <p:sldId id="292" r:id="rId8"/>
    <p:sldId id="298" r:id="rId9"/>
    <p:sldId id="285" r:id="rId10"/>
    <p:sldId id="299" r:id="rId11"/>
    <p:sldId id="300" r:id="rId12"/>
    <p:sldId id="301" r:id="rId13"/>
    <p:sldId id="287" r:id="rId14"/>
    <p:sldId id="289" r:id="rId15"/>
    <p:sldId id="302" r:id="rId16"/>
    <p:sldId id="303" r:id="rId17"/>
    <p:sldId id="304" r:id="rId18"/>
    <p:sldId id="257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Бейсов Нурбол" initials="БН" lastIdx="3" clrIdx="0">
    <p:extLst>
      <p:ext uri="{19B8F6BF-5375-455C-9EA6-DF929625EA0E}">
        <p15:presenceInfo xmlns:p15="http://schemas.microsoft.com/office/powerpoint/2012/main" userId="Бейсов Нурбол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8494"/>
    <a:srgbClr val="F1FAEE"/>
    <a:srgbClr val="A8DADC"/>
    <a:srgbClr val="1D3557"/>
    <a:srgbClr val="457B9D"/>
    <a:srgbClr val="E9C46A"/>
    <a:srgbClr val="2A9D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04" autoAdjust="0"/>
    <p:restoredTop sz="94605" autoAdjust="0"/>
  </p:normalViewPr>
  <p:slideViewPr>
    <p:cSldViewPr snapToGrid="0" showGuides="1">
      <p:cViewPr varScale="1">
        <p:scale>
          <a:sx n="104" d="100"/>
          <a:sy n="104" d="100"/>
        </p:scale>
        <p:origin x="384" y="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60D1341-3503-487C-B2C2-A6063D072E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8AEEF98-7BDD-4C72-BD8C-644041A68A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C7B480-4FB3-4F32-9642-08EBE6967632}" type="datetime1">
              <a:rPr lang="ru-RU" smtClean="0"/>
              <a:t>18.05.2026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A9A61ED-275F-419B-B7E2-E79F99C7E3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92D84CA-A59B-4F92-95A7-F148697C5BE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7B33D9-5F7A-4134-903D-BD5A203FC8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480732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F2E734-2E7E-4FAA-9647-ABEE08BAA44C}" type="datetime1">
              <a:rPr lang="ru-RU" smtClean="0"/>
              <a:t>18.05.2026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41FDAE-3C32-4097-9F12-ACB7CCC62B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9649250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E488CE-BB74-46D3-90B9-713EBE8D0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685" y="1854199"/>
            <a:ext cx="10971650" cy="1655763"/>
          </a:xfrm>
        </p:spPr>
        <p:txBody>
          <a:bodyPr anchor="b">
            <a:normAutofit/>
          </a:bodyPr>
          <a:lstStyle>
            <a:lvl1pPr algn="ctr"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630922-A485-4FF7-BB07-B0F425146D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685" y="3806225"/>
            <a:ext cx="10971650" cy="1655762"/>
          </a:xfrm>
        </p:spPr>
        <p:txBody>
          <a:bodyPr/>
          <a:lstStyle>
            <a:lvl1pPr marL="0" indent="0" algn="r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B5DE16-A7BD-4ABD-999B-24DCE1863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k-KZ" dirty="0"/>
              <a:t>КазНУ им. аль</a:t>
            </a:r>
            <a:r>
              <a:rPr lang="ru-RU" dirty="0"/>
              <a:t>-Фараби</a:t>
            </a:r>
            <a:endParaRPr lang="kk-KZ" dirty="0"/>
          </a:p>
        </p:txBody>
      </p:sp>
      <p:sp>
        <p:nvSpPr>
          <p:cNvPr id="7" name="Дата 3">
            <a:extLst>
              <a:ext uri="{FF2B5EF4-FFF2-40B4-BE49-F238E27FC236}">
                <a16:creationId xmlns:a16="http://schemas.microsoft.com/office/drawing/2014/main" id="{DC5540A6-634B-4BA2-AA77-828AA7F80B39}"/>
              </a:ext>
            </a:extLst>
          </p:cNvPr>
          <p:cNvSpPr txBox="1">
            <a:spLocks/>
          </p:cNvSpPr>
          <p:nvPr userDrawn="1"/>
        </p:nvSpPr>
        <p:spPr>
          <a:xfrm>
            <a:off x="1956816" y="369790"/>
            <a:ext cx="8357616" cy="1016873"/>
          </a:xfrm>
          <a:prstGeom prst="rect">
            <a:avLst/>
          </a:prstGeom>
        </p:spPr>
        <p:txBody>
          <a:bodyPr anchor="ctr"/>
          <a:lstStyle>
            <a:defPPr>
              <a:defRPr lang="ru-RU"/>
            </a:defPPr>
            <a:lvl1pPr marL="0" algn="ctr" defTabSz="914400" rtl="0" eaLnBrk="1" latinLnBrk="0" hangingPunct="1"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k-KZ" noProof="0" dirty="0"/>
              <a:t>Казахский Национальный Университет имени аль-Фараби</a:t>
            </a:r>
          </a:p>
          <a:p>
            <a:r>
              <a:rPr lang="kk-KZ" noProof="0" dirty="0"/>
              <a:t> Факультет информационных технологий и искусственного интеллекта</a:t>
            </a:r>
          </a:p>
          <a:p>
            <a:r>
              <a:rPr lang="kk-KZ" noProof="0" dirty="0"/>
              <a:t>Кафедра компьютерных наук</a:t>
            </a:r>
          </a:p>
        </p:txBody>
      </p:sp>
      <p:pic>
        <p:nvPicPr>
          <p:cNvPr id="11" name="Рисунок 18">
            <a:extLst>
              <a:ext uri="{FF2B5EF4-FFF2-40B4-BE49-F238E27FC236}">
                <a16:creationId xmlns:a16="http://schemas.microsoft.com/office/drawing/2014/main" id="{DCEFA212-7D5C-4A28-812C-20A093AA4A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0854" y="369791"/>
            <a:ext cx="1035605" cy="1044048"/>
          </a:xfrm>
          <a:prstGeom prst="rect">
            <a:avLst/>
          </a:prstGeom>
        </p:spPr>
      </p:pic>
      <p:pic>
        <p:nvPicPr>
          <p:cNvPr id="4" name="Рисунок 5">
            <a:extLst>
              <a:ext uri="{FF2B5EF4-FFF2-40B4-BE49-F238E27FC236}">
                <a16:creationId xmlns:a16="http://schemas.microsoft.com/office/drawing/2014/main" id="{CC124DBB-8D61-6675-0D6B-5DD3E689D3E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5210" y="357632"/>
            <a:ext cx="1169703" cy="1279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01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Актуальност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F7F242-F07A-45C0-AEB9-A32ABD035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5891" y="365125"/>
            <a:ext cx="9621511" cy="1044049"/>
          </a:xfrm>
        </p:spPr>
        <p:txBody>
          <a:bodyPr>
            <a:normAutofit/>
          </a:bodyPr>
          <a:lstStyle>
            <a:lvl1pPr>
              <a:defRPr sz="3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FF90FD-C0D8-4B51-8306-AFB023E96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639" y="1825625"/>
            <a:ext cx="11265763" cy="4351338"/>
          </a:xfrm>
        </p:spPr>
        <p:txBody>
          <a:bodyPr>
            <a:norm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02B221-F06D-4F53-BDC8-A12B64C49F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1639" y="6356350"/>
            <a:ext cx="27249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E0955F-D797-4FF7-9F57-168AA0F993D1}" type="datetime1">
              <a:rPr lang="ru-RU" smtClean="0"/>
              <a:t>18.05.2026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7FCF93-A051-41A8-9C44-C22E3620F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t"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k-KZ" dirty="0"/>
              <a:t>КазНУ им. аль</a:t>
            </a:r>
            <a:r>
              <a:rPr lang="ru-RU" dirty="0"/>
              <a:t>-Фараби</a:t>
            </a:r>
            <a:endParaRPr lang="kk-KZ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AE224D-782B-4F27-9797-384084E4C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5454" y="6356350"/>
            <a:ext cx="2721947" cy="365125"/>
          </a:xfrm>
        </p:spPr>
        <p:txBody>
          <a:bodyPr/>
          <a:lstStyle/>
          <a:p>
            <a:fld id="{AC83EC1F-A917-497A-BAA4-DAF738FAF6FC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18">
            <a:extLst>
              <a:ext uri="{FF2B5EF4-FFF2-40B4-BE49-F238E27FC236}">
                <a16:creationId xmlns:a16="http://schemas.microsoft.com/office/drawing/2014/main" id="{737DC428-FDB3-416A-B0C9-B92BE34AA2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39" y="365125"/>
            <a:ext cx="1035605" cy="104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104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DA01EE-B7B9-4D18-97C7-99C58A3F1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181" y="993198"/>
            <a:ext cx="10836563" cy="5426075"/>
          </a:xfrm>
        </p:spPr>
        <p:txBody>
          <a:bodyPr>
            <a:normAutofit/>
          </a:bodyPr>
          <a:lstStyle>
            <a:lvl1pPr>
              <a:defRPr sz="3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57300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A7CEAE-8323-493F-BBC3-9E0AA1DF0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6F520A9-A6C0-45A5-9C1E-10CCA59B8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A9A8BC-6172-48CE-94F9-37F883C633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7C68A-9F4D-47E4-815D-DFB2FF0C473E}" type="datetime1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DB827B-4F63-4973-AE13-A65032270E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kk-KZ" dirty="0"/>
              <a:t>КазНУ им. аль</a:t>
            </a:r>
            <a:r>
              <a:rPr lang="ru-RU" dirty="0"/>
              <a:t>-Фараби</a:t>
            </a:r>
            <a:endParaRPr lang="kk-KZ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F32744-8F93-402F-BABE-5B7AB10610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83EC1F-A917-497A-BAA4-DAF738FAF6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0496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2A1577-F9E9-4059-87AE-497430A2C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685" y="2743200"/>
            <a:ext cx="10971650" cy="807336"/>
          </a:xfrm>
        </p:spPr>
        <p:txBody>
          <a:bodyPr>
            <a:normAutofit/>
          </a:bodyPr>
          <a:lstStyle/>
          <a:p>
            <a:r>
              <a:rPr lang="ru-RU" sz="2400" dirty="0"/>
              <a:t>Оптимизация вариационных квантовых алгоритмов </a:t>
            </a:r>
            <a:br>
              <a:rPr lang="ru-RU" sz="2400" dirty="0"/>
            </a:br>
            <a:r>
              <a:rPr lang="ru-RU" sz="2400" dirty="0"/>
              <a:t>для решения проблемы бесплодных плато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B104A6D-C2F9-4718-BBAF-4134E4A751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685" y="4343399"/>
            <a:ext cx="10971650" cy="1118587"/>
          </a:xfrm>
        </p:spPr>
        <p:txBody>
          <a:bodyPr>
            <a:normAutofit/>
          </a:bodyPr>
          <a:lstStyle/>
          <a:p>
            <a:r>
              <a:rPr lang="kk-KZ" sz="1600" b="0" dirty="0"/>
              <a:t>Отечественный научный консультант: Дарибаев Б.С., </a:t>
            </a:r>
            <a:r>
              <a:rPr lang="en-US" sz="1600" b="0" dirty="0"/>
              <a:t>PhD</a:t>
            </a:r>
            <a:r>
              <a:rPr lang="ru-RU" sz="1600" b="0" dirty="0"/>
              <a:t>, ассоцированный профессор</a:t>
            </a:r>
            <a:endParaRPr lang="kk-KZ" sz="1600" b="0" dirty="0"/>
          </a:p>
          <a:p>
            <a:r>
              <a:rPr lang="kk-KZ" sz="1600" b="0"/>
              <a:t>Зарубежный научный </a:t>
            </a:r>
            <a:r>
              <a:rPr lang="kk-KZ" sz="1600" b="0" dirty="0"/>
              <a:t>консультант: Мельников А.А.</a:t>
            </a:r>
            <a:r>
              <a:rPr lang="ru-RU" sz="1600" b="0" dirty="0"/>
              <a:t>, PhD, ассоцированный профессор </a:t>
            </a:r>
          </a:p>
          <a:p>
            <a:r>
              <a:rPr lang="ru-RU" sz="1600" b="0" dirty="0"/>
              <a:t>Комиссия фон Неймана</a:t>
            </a:r>
            <a:r>
              <a:rPr lang="en-US" sz="1600" b="0" dirty="0"/>
              <a:t>/Terra Quantum</a:t>
            </a:r>
            <a:r>
              <a:rPr lang="ru-RU" sz="1600" b="0" dirty="0"/>
              <a:t>, Санкт-Галлен, Швейцария</a:t>
            </a:r>
            <a:endParaRPr lang="en-GB" sz="1600" b="0" dirty="0"/>
          </a:p>
          <a:p>
            <a:endParaRPr lang="ru-RU" sz="1600" b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F69275-E68D-4C49-91F1-A922172C2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k-KZ" dirty="0"/>
              <a:t>Алматы, 202</a:t>
            </a:r>
            <a:r>
              <a:rPr lang="ru-RU" dirty="0"/>
              <a:t>6</a:t>
            </a:r>
            <a:r>
              <a:rPr lang="kk-KZ" dirty="0"/>
              <a:t> ж.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FF16B2-FF79-80FF-7F8C-55F5DE253EF6}"/>
              </a:ext>
            </a:extLst>
          </p:cNvPr>
          <p:cNvSpPr txBox="1"/>
          <p:nvPr/>
        </p:nvSpPr>
        <p:spPr>
          <a:xfrm>
            <a:off x="4145740" y="3616587"/>
            <a:ext cx="39835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Докторант:  Азатбекұлы Н.</a:t>
            </a:r>
          </a:p>
        </p:txBody>
      </p:sp>
    </p:spTree>
    <p:extLst>
      <p:ext uri="{BB962C8B-B14F-4D97-AF65-F5344CB8AC3E}">
        <p14:creationId xmlns:p14="http://schemas.microsoft.com/office/powerpoint/2010/main" val="1907837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E55F8-6A58-C0B8-1FE5-88E0703DF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F313444-993B-0E12-DC6C-1F73B1E1F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k-KZ" sz="2400" b="1" dirty="0"/>
              <a:t>Цель,</a:t>
            </a:r>
            <a:r>
              <a:rPr lang="ru-RU" sz="2400" b="1" dirty="0"/>
              <a:t> задачи, актуальность и новизна работы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E02D0A3-668E-0AB4-0BC7-6A02DC59F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39B8D-9B44-4C03-8586-2025FA882966}" type="datetime1">
              <a:rPr lang="ru-RU" smtClean="0"/>
              <a:t>18.05.2026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2596A7-96DC-BD12-37A4-933CA6F25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k-KZ" dirty="0"/>
              <a:t>КазНУ им. аль</a:t>
            </a:r>
            <a:r>
              <a:rPr lang="ru-RU" dirty="0"/>
              <a:t>-Фараби</a:t>
            </a:r>
            <a:endParaRPr lang="kk-KZ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47CBFB-DA91-6A25-574C-5C76BC0CB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3EC1F-A917-497A-BAA4-DAF738FAF6FC}" type="slidenum">
              <a:rPr lang="ru-RU" smtClean="0"/>
              <a:t>2</a:t>
            </a:fld>
            <a:endParaRPr lang="ru-RU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4755A36-6BE4-C4DC-9745-C45A6D86CD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1639" y="1801461"/>
            <a:ext cx="11368917" cy="4411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000" b="1" dirty="0"/>
              <a:t>Цель: </a:t>
            </a:r>
            <a:r>
              <a:rPr lang="ru-RU" sz="2000" dirty="0"/>
              <a:t>Разработать и оптимизировать методы повышения обучаемости вариационных квантовых алгоритмов путем уменьшения эффекта бесплодных плато на больших количествах кубитов и глубоких схемах.</a:t>
            </a:r>
            <a:endParaRPr lang="en-US" sz="2000" dirty="0"/>
          </a:p>
          <a:p>
            <a:r>
              <a:rPr lang="ru-RU" sz="2000" b="1" dirty="0"/>
              <a:t>Задачи: </a:t>
            </a:r>
            <a:endParaRPr lang="en-US" sz="2000" dirty="0"/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/>
              <a:t>Исследовать теоретические причины появления бесплодных плато (БП).</a:t>
            </a:r>
            <a:endParaRPr lang="en-US" sz="2000" dirty="0"/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/>
              <a:t>Систематизировать методы митигации БП через анализ литературы</a:t>
            </a:r>
            <a:r>
              <a:rPr lang="en-US" sz="2000" dirty="0"/>
              <a:t>.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/>
              <a:t>Исследовать совместимость и возможность объединения существующих методов митигации 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/>
              <a:t>Разработать квантово-нативный метод митигации БП, эффективный для глубоких схем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/>
              <a:t>Верифицировать методы на реальном квантовом устройстве.</a:t>
            </a:r>
          </a:p>
          <a:p>
            <a:r>
              <a:rPr lang="ru-RU" sz="2000" b="1" dirty="0"/>
              <a:t>Актуальность: </a:t>
            </a:r>
            <a:r>
              <a:rPr lang="ru-RU" sz="2000" dirty="0"/>
              <a:t>Вариационные квантовые алгоритмы являются ключевым инструментом эпохи NISQ, однако эффект бесплодных плато экспоненциально подавляет градиенты с ростом схемы, делая обучение невозможным. Существующие методы митигации локализуют проблему, универсального решения не существует.</a:t>
            </a:r>
          </a:p>
        </p:txBody>
      </p:sp>
    </p:spTree>
    <p:extLst>
      <p:ext uri="{BB962C8B-B14F-4D97-AF65-F5344CB8AC3E}">
        <p14:creationId xmlns:p14="http://schemas.microsoft.com/office/powerpoint/2010/main" val="1892466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25846-6D85-E0C2-38C5-40C330CB8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3996C2C-CF78-52C5-EAF3-B7319C299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/>
              <a:t>Гибридный цикл работы </a:t>
            </a:r>
            <a:r>
              <a:rPr lang="en-US" sz="2800" b="1" dirty="0"/>
              <a:t>QNN</a:t>
            </a:r>
            <a:r>
              <a:rPr lang="ru-RU" sz="2800" b="1" dirty="0"/>
              <a:t> (</a:t>
            </a:r>
            <a:r>
              <a:rPr lang="en-US" sz="2800" b="1" dirty="0"/>
              <a:t>VQA</a:t>
            </a:r>
            <a:r>
              <a:rPr lang="ru-RU" sz="2800" b="1" dirty="0"/>
              <a:t>)</a:t>
            </a:r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1F2DAE04-B23D-13AC-453D-96847FEA97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220" b="50714"/>
          <a:stretch>
            <a:fillRect/>
          </a:stretch>
        </p:blipFill>
        <p:spPr>
          <a:xfrm>
            <a:off x="565689" y="1681513"/>
            <a:ext cx="10763052" cy="205586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Дата 6">
            <a:extLst>
              <a:ext uri="{FF2B5EF4-FFF2-40B4-BE49-F238E27FC236}">
                <a16:creationId xmlns:a16="http://schemas.microsoft.com/office/drawing/2014/main" id="{96BA98A5-1765-0F02-8EF2-7EC5D19A8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FA71C-0D3E-470E-A426-350DC7500209}" type="datetime1">
              <a:rPr lang="ru-RU" smtClean="0"/>
              <a:t>18.05.2026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591DA4-A03D-BDD3-4FF5-C7DCD3B16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k-KZ" dirty="0"/>
              <a:t>КазНУ им. аль</a:t>
            </a:r>
            <a:r>
              <a:rPr lang="ru-RU" dirty="0"/>
              <a:t>-Фараби</a:t>
            </a:r>
            <a:endParaRPr lang="kk-KZ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36175F-ED46-A449-5FB3-7D393C4A5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3EC1F-A917-497A-BAA4-DAF738FAF6FC}" type="slidenum">
              <a:rPr lang="ru-RU" smtClean="0"/>
              <a:t>3</a:t>
            </a:fld>
            <a:endParaRPr lang="ru-RU" dirty="0"/>
          </a:p>
        </p:txBody>
      </p:sp>
      <p:pic>
        <p:nvPicPr>
          <p:cNvPr id="3" name="Content Placeholder 1">
            <a:extLst>
              <a:ext uri="{FF2B5EF4-FFF2-40B4-BE49-F238E27FC236}">
                <a16:creationId xmlns:a16="http://schemas.microsoft.com/office/drawing/2014/main" id="{C5DE69FA-FFA5-4EDD-2F51-DA3F5C09DD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980" r="48684"/>
          <a:stretch>
            <a:fillRect/>
          </a:stretch>
        </p:blipFill>
        <p:spPr>
          <a:xfrm>
            <a:off x="5805590" y="3905935"/>
            <a:ext cx="5523151" cy="2281860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4D9820-8BA2-80F3-0E36-746D4255F7B9}"/>
                  </a:ext>
                </a:extLst>
              </p:cNvPr>
              <p:cNvSpPr txBox="1"/>
              <p:nvPr/>
            </p:nvSpPr>
            <p:spPr>
              <a:xfrm>
                <a:off x="2346356" y="3905935"/>
                <a:ext cx="3384487" cy="230832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Symbol" panose="05050102010706020507" pitchFamily="18" charset="2"/>
                  <a:buChar char="-"/>
                </a:pPr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Квантовая часть выполняет кодирование данных и вычисление предсказания</a:t>
                </a: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Symbol" panose="05050102010706020507" pitchFamily="18" charset="2"/>
                  <a:buChar char="-"/>
                </a:pPr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Классическая часть вычисляет функцию потерь и обновляет параметры </a:t>
                </a:r>
                <a14:m>
                  <m:oMath xmlns:m="http://schemas.openxmlformats.org/officeDocument/2006/math">
                    <m:r>
                      <a:rPr lang="ru-R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𝜃</m:t>
                    </m:r>
                  </m:oMath>
                </a14:m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через оптимизатор.</a:t>
                </a: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Symbol" panose="05050102010706020507" pitchFamily="18" charset="2"/>
                  <a:buChar char="-"/>
                </a:pPr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Цикл повторяется до сходимости.</a:t>
                </a: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4D9820-8BA2-80F3-0E36-746D4255F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356" y="3905935"/>
                <a:ext cx="3384487" cy="2308324"/>
              </a:xfrm>
              <a:prstGeom prst="rect">
                <a:avLst/>
              </a:prstGeom>
              <a:blipFill>
                <a:blip r:embed="rId3"/>
                <a:stretch>
                  <a:fillRect l="-898" t="-789" r="-718" b="-236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Сфера Блоха для бройлеров / Хабр">
            <a:extLst>
              <a:ext uri="{FF2B5EF4-FFF2-40B4-BE49-F238E27FC236}">
                <a16:creationId xmlns:a16="http://schemas.microsoft.com/office/drawing/2014/main" id="{07A4E4F6-FB37-3303-C991-8E94D2052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639" y="3905935"/>
            <a:ext cx="1866607" cy="230832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28017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DA6F1-B939-A379-698F-5F0F97FF6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AD829A5-D52D-7616-4A32-7F2871419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b="1" dirty="0"/>
              <a:t>Архитектура квантовой схемы. </a:t>
            </a:r>
            <a:r>
              <a:rPr lang="en-US" sz="2400" b="1" dirty="0"/>
              <a:t>Forward pass</a:t>
            </a:r>
            <a:endParaRPr lang="ru-RU" sz="2400" b="1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BEF8C0E-98A2-5CA8-29D7-CA5E47CE0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FA71C-0D3E-470E-A426-350DC7500209}" type="datetime1">
              <a:rPr lang="ru-RU" smtClean="0"/>
              <a:t>18.05.2026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B716B5-0119-5A07-7D35-256EB7DA3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k-KZ" dirty="0"/>
              <a:t>КазНУ им. аль</a:t>
            </a:r>
            <a:r>
              <a:rPr lang="ru-RU" dirty="0"/>
              <a:t>-Фараби</a:t>
            </a:r>
            <a:endParaRPr lang="kk-KZ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16243C-6CA3-7155-0BA5-504CB3DAD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3EC1F-A917-497A-BAA4-DAF738FAF6FC}" type="slidenum">
              <a:rPr lang="ru-RU" smtClean="0"/>
              <a:t>4</a:t>
            </a:fld>
            <a:endParaRPr lang="ru-RU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00BC2132-8433-E61C-9C10-4AA6938348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1638" r="25929" b="58621"/>
          <a:stretch>
            <a:fillRect/>
          </a:stretch>
        </p:blipFill>
        <p:spPr>
          <a:xfrm>
            <a:off x="517414" y="1557280"/>
            <a:ext cx="7354549" cy="24930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Content Placeholder 13">
            <a:extLst>
              <a:ext uri="{FF2B5EF4-FFF2-40B4-BE49-F238E27FC236}">
                <a16:creationId xmlns:a16="http://schemas.microsoft.com/office/drawing/2014/main" id="{E30C3164-05F4-86D7-EB03-3199022D51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71" t="44176" r="25810" b="30396"/>
          <a:stretch>
            <a:fillRect/>
          </a:stretch>
        </p:blipFill>
        <p:spPr>
          <a:xfrm>
            <a:off x="517414" y="4137613"/>
            <a:ext cx="7354549" cy="2264483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3C29BC-417D-623F-B5CC-1E8334684BC8}"/>
                  </a:ext>
                </a:extLst>
              </p:cNvPr>
              <p:cNvSpPr txBox="1"/>
              <p:nvPr/>
            </p:nvSpPr>
            <p:spPr>
              <a:xfrm>
                <a:off x="8057766" y="1557280"/>
                <a:ext cx="3540999" cy="480131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Symbol" panose="05050102010706020507" pitchFamily="18" charset="2"/>
                  <a:buChar char="-"/>
                </a:pP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Входные данные нормализуются в диапазон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RU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ru-RU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𝜋</m:t>
                        </m:r>
                        <m:r>
                          <a:rPr lang="ru-RU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ru-RU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𝜋</m:t>
                        </m:r>
                      </m:e>
                    </m:d>
                    <m:r>
                      <a:rPr lang="ru-RU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и кодируются в углы поворота кубитов через RY-гейты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Symbol" panose="05050102010706020507" pitchFamily="18" charset="2"/>
                  <a:buChar char="-"/>
                </a:pP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Обучаемые параметры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𝜃</m:t>
                    </m:r>
                  </m:oMath>
                </a14:m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 применяются в слое Ansatz</a:t>
                </a:r>
              </a:p>
              <a:p>
                <a:pPr marL="285750" indent="-285750">
                  <a:buFont typeface="Symbol" panose="05050102010706020507" pitchFamily="18" charset="2"/>
                  <a:buChar char="-"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Symbol" panose="05050102010706020507" pitchFamily="18" charset="2"/>
                  <a:buChar char="-"/>
                </a:pP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CNOT создаёт запутанность между соседними кубитами</a:t>
                </a:r>
              </a:p>
              <a:p>
                <a:pPr marL="285750" indent="-285750">
                  <a:buFont typeface="Symbol" panose="05050102010706020507" pitchFamily="18" charset="2"/>
                  <a:buChar char="-"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Symbol" panose="05050102010706020507" pitchFamily="18" charset="2"/>
                  <a:buChar char="-"/>
                </a:pP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Измерение кубита Q₀ даёт предсказание классификатора.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Symbol" panose="05050102010706020507" pitchFamily="18" charset="2"/>
                  <a:buChar char="-"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3C29BC-417D-623F-B5CC-1E8334684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7766" y="1557280"/>
                <a:ext cx="3540999" cy="4801314"/>
              </a:xfrm>
              <a:prstGeom prst="rect">
                <a:avLst/>
              </a:prstGeom>
              <a:blipFill>
                <a:blip r:embed="rId3"/>
                <a:stretch>
                  <a:fillRect l="-1372" t="-633" r="-154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7128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45381-CA4F-B450-43F0-6111AB66E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9B80E7A-C7B7-46F0-1EB8-54A90315D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b="1" dirty="0"/>
              <a:t>Архитектура квантовой схемы</a:t>
            </a:r>
            <a:r>
              <a:rPr lang="en-US" sz="2400" b="1" dirty="0"/>
              <a:t>. Backward pass</a:t>
            </a:r>
            <a:endParaRPr lang="ru-RU" sz="2400" b="1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94157F8-AE0D-22F8-E53E-62A1BD1F2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FA71C-0D3E-470E-A426-350DC7500209}" type="datetime1">
              <a:rPr lang="ru-RU" smtClean="0"/>
              <a:t>18.05.2026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963A6D8-DB06-7759-DB5D-56CA39074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k-KZ" dirty="0"/>
              <a:t>КазНУ им. аль</a:t>
            </a:r>
            <a:r>
              <a:rPr lang="ru-RU" dirty="0"/>
              <a:t>-Фараби</a:t>
            </a:r>
            <a:endParaRPr lang="kk-KZ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6BB0AE-7AB2-1274-1055-D30F13892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3EC1F-A917-497A-BAA4-DAF738FAF6FC}" type="slidenum">
              <a:rPr lang="ru-RU" smtClean="0"/>
              <a:t>5</a:t>
            </a:fld>
            <a:endParaRPr lang="ru-RU" dirty="0"/>
          </a:p>
        </p:txBody>
      </p:sp>
      <p:pic>
        <p:nvPicPr>
          <p:cNvPr id="19" name="Content Placeholder 15">
            <a:extLst>
              <a:ext uri="{FF2B5EF4-FFF2-40B4-BE49-F238E27FC236}">
                <a16:creationId xmlns:a16="http://schemas.microsoft.com/office/drawing/2014/main" id="{232F0DD2-93D9-D5CC-B787-588D561A7C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112" t="52551" r="20398" b="10511"/>
          <a:stretch>
            <a:fillRect/>
          </a:stretch>
        </p:blipFill>
        <p:spPr>
          <a:xfrm>
            <a:off x="517414" y="4198429"/>
            <a:ext cx="7354549" cy="18815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Content Placeholder 13">
            <a:extLst>
              <a:ext uri="{FF2B5EF4-FFF2-40B4-BE49-F238E27FC236}">
                <a16:creationId xmlns:a16="http://schemas.microsoft.com/office/drawing/2014/main" id="{83D777E1-61F5-EBB1-0D24-FFE871E990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638" r="25929" b="58621"/>
          <a:stretch>
            <a:fillRect/>
          </a:stretch>
        </p:blipFill>
        <p:spPr>
          <a:xfrm>
            <a:off x="517414" y="1557280"/>
            <a:ext cx="7354549" cy="2493043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829999-3678-DEB3-BE5C-79B26BF07C2A}"/>
                  </a:ext>
                </a:extLst>
              </p:cNvPr>
              <p:cNvSpPr txBox="1"/>
              <p:nvPr/>
            </p:nvSpPr>
            <p:spPr>
              <a:xfrm>
                <a:off x="8057766" y="1557280"/>
                <a:ext cx="3540999" cy="433772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Symbol" panose="05050102010706020507" pitchFamily="18" charset="2"/>
                  <a:buChar char="-"/>
                </a:pP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Классический backpropagation невозможен: измерение разрушает квантовое состояние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Symbol" panose="05050102010706020507" pitchFamily="18" charset="2"/>
                  <a:buChar char="-"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Symbol" panose="05050102010706020507" pitchFamily="18" charset="2"/>
                  <a:buChar char="-"/>
                </a:pP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Вместо него используется Parameter Shift Rule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схема запускается дважды для каждого параметра со сдвигом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±</m:t>
                    </m:r>
                    <m:f>
                      <m:fPr>
                        <m:ctrlPr>
                          <a:rPr lang="ru-RU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ru-RU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𝜋</m:t>
                        </m:r>
                      </m:num>
                      <m:den>
                        <m:r>
                          <a:rPr lang="ru-RU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Symbol" panose="05050102010706020507" pitchFamily="18" charset="2"/>
                  <a:buChar char="-"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Symbol" panose="05050102010706020507" pitchFamily="18" charset="2"/>
                  <a:buChar char="-"/>
                </a:pP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Градиент вычисляется как разность двух измерений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Symbol" panose="05050102010706020507" pitchFamily="18" charset="2"/>
                  <a:buChar char="-"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829999-3678-DEB3-BE5C-79B26BF07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7766" y="1557280"/>
                <a:ext cx="3540999" cy="4337726"/>
              </a:xfrm>
              <a:prstGeom prst="rect">
                <a:avLst/>
              </a:prstGeom>
              <a:blipFill>
                <a:blip r:embed="rId4"/>
                <a:stretch>
                  <a:fillRect l="-1372" t="-7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3925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639ED-82CB-7D2A-77B0-03378CE86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79AEB0B-931F-7044-CC90-80BE6617A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569" y="350108"/>
            <a:ext cx="9621511" cy="1044049"/>
          </a:xfrm>
        </p:spPr>
        <p:txBody>
          <a:bodyPr>
            <a:normAutofit/>
          </a:bodyPr>
          <a:lstStyle/>
          <a:p>
            <a:r>
              <a:rPr lang="ru-RU" sz="2400" b="1" dirty="0"/>
              <a:t>Визуализация экспоненциального убывания градиентов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E27CEEA-E59B-21FC-DF0F-EEB48BB77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39B8D-9B44-4C03-8586-2025FA882966}" type="datetime1">
              <a:rPr lang="ru-RU" smtClean="0"/>
              <a:t>18.05.2026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AAF6D9-7882-CA01-B9CA-B8633CFD3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k-KZ" dirty="0"/>
              <a:t>КазНУ им. аль</a:t>
            </a:r>
            <a:r>
              <a:rPr lang="ru-RU" dirty="0"/>
              <a:t>-Фараби</a:t>
            </a:r>
            <a:endParaRPr lang="kk-KZ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AE663C-A606-9E30-C7BF-C9AC25C7E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3EC1F-A917-497A-BAA4-DAF738FAF6FC}" type="slidenum">
              <a:rPr lang="ru-RU" smtClean="0"/>
              <a:t>6</a:t>
            </a:fld>
            <a:endParaRPr lang="ru-RU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4D6DB94E-1A88-1252-8D6F-716C63EF23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/>
        </p:blipFill>
        <p:spPr>
          <a:xfrm>
            <a:off x="1374432" y="1538295"/>
            <a:ext cx="3970818" cy="35462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310B575-AB58-A8A6-9282-833B3CE513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598"/>
          <a:stretch>
            <a:fillRect/>
          </a:stretch>
        </p:blipFill>
        <p:spPr>
          <a:xfrm>
            <a:off x="6252797" y="1538296"/>
            <a:ext cx="4599222" cy="35462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EB8C636-81A1-CFBE-E195-002720D956A6}"/>
              </a:ext>
            </a:extLst>
          </p:cNvPr>
          <p:cNvSpPr txBox="1"/>
          <p:nvPr/>
        </p:nvSpPr>
        <p:spPr>
          <a:xfrm>
            <a:off x="619828" y="5211936"/>
            <a:ext cx="52654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Дисперсия схемы с 28 кубитами теоретически может быть меньше в 10 млн.раз чем схемы с 2 кубитами</a:t>
            </a:r>
          </a:p>
          <a:p>
            <a:pPr algn="ctr"/>
            <a:r>
              <a:rPr lang="en-US" sz="1400" i="1" dirty="0"/>
              <a:t>McClean, J.R. et al. Barren Plateaus in Quantum Neural Network Training Landscapes. Nature Communications 2018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5CEA31-F519-CF71-76D7-4DAC464E21D1}"/>
              </a:ext>
            </a:extLst>
          </p:cNvPr>
          <p:cNvSpPr txBox="1"/>
          <p:nvPr/>
        </p:nvSpPr>
        <p:spPr>
          <a:xfrm>
            <a:off x="6252797" y="5228650"/>
            <a:ext cx="46831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Репликация эксперимента </a:t>
            </a:r>
            <a:r>
              <a:rPr lang="en-US" sz="2000" dirty="0"/>
              <a:t>McClean et al.</a:t>
            </a:r>
            <a:endParaRPr lang="ru-RU" sz="2000" dirty="0"/>
          </a:p>
          <a:p>
            <a:pPr algn="ctr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3126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2A618-D0B5-DC21-4F60-E375A62EF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9A6257C-4FDB-CF51-A78C-7BF3C21F2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131" y="377399"/>
            <a:ext cx="9621511" cy="1044049"/>
          </a:xfrm>
        </p:spPr>
        <p:txBody>
          <a:bodyPr>
            <a:normAutofit/>
          </a:bodyPr>
          <a:lstStyle/>
          <a:p>
            <a:r>
              <a:rPr lang="ru-RU" sz="2400" b="1" dirty="0"/>
              <a:t>Визуализация ландшафта функции потерь в системе с 2 кубитами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79A032A5-D2F9-B68F-7441-6E25260A9C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5" t="18245" r="-47" b="19320"/>
          <a:stretch>
            <a:fillRect/>
          </a:stretch>
        </p:blipFill>
        <p:spPr>
          <a:xfrm>
            <a:off x="925094" y="4209922"/>
            <a:ext cx="5387126" cy="16818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Дата 6">
            <a:extLst>
              <a:ext uri="{FF2B5EF4-FFF2-40B4-BE49-F238E27FC236}">
                <a16:creationId xmlns:a16="http://schemas.microsoft.com/office/drawing/2014/main" id="{43232F81-ACFD-43CE-3FCB-D3C68AFB9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FA71C-0D3E-470E-A426-350DC7500209}" type="datetime1">
              <a:rPr lang="ru-RU" smtClean="0"/>
              <a:t>18.05.2026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AEAC04-4647-6529-F6F8-41D973563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k-KZ" dirty="0"/>
              <a:t>КазНУ им. аль</a:t>
            </a:r>
            <a:r>
              <a:rPr lang="ru-RU" dirty="0"/>
              <a:t>-Фараби</a:t>
            </a:r>
            <a:endParaRPr lang="kk-KZ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0C1413-3D5A-6D3E-1591-6129F4643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3EC1F-A917-497A-BAA4-DAF738FAF6FC}" type="slidenum">
              <a:rPr lang="ru-RU" smtClean="0"/>
              <a:t>7</a:t>
            </a:fld>
            <a:endParaRPr lang="ru-R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8F15946-7478-A888-E6E4-DAA19CA26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220" y="1588204"/>
            <a:ext cx="4929712" cy="4303594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C46DB74-AFCA-9F5D-7217-2473A4AEA502}"/>
                  </a:ext>
                </a:extLst>
              </p:cNvPr>
              <p:cNvSpPr txBox="1"/>
              <p:nvPr/>
            </p:nvSpPr>
            <p:spPr>
              <a:xfrm>
                <a:off x="925094" y="1577189"/>
                <a:ext cx="5377515" cy="255454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Symbol" panose="05050102010706020507" pitchFamily="18" charset="2"/>
                  <a:buChar char=""/>
                </a:pPr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Простая 2-кубитная система, с 2 параметрами (весами)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ru-RU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0, 2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lang="en-US" sz="1600" b="0" dirty="0">
                  <a:latin typeface="Arial" panose="020B0604020202020204" pitchFamily="34" charset="0"/>
                </a:endParaRPr>
              </a:p>
              <a:p>
                <a:pPr marL="285750" indent="-285750">
                  <a:buFont typeface="Symbol" panose="05050102010706020507" pitchFamily="18" charset="2"/>
                  <a:buChar char=""/>
                </a:pPr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Сетка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38×38=1444 </m:t>
                    </m:r>
                  </m:oMath>
                </a14:m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запусков схемы, дискретный метод</a:t>
                </a: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Symbol" panose="05050102010706020507" pitchFamily="18" charset="2"/>
                  <a:buChar char="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=4.0</m:t>
                    </m:r>
                    <m:r>
                      <a:rPr lang="ru-RU" sz="16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≈0 </m:t>
                    </m:r>
                    <m:r>
                      <a:rPr lang="ru-RU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т.к. сетка дискретная,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=0, </m:t>
                    </m:r>
                    <m:r>
                      <a:rPr lang="ru-RU" sz="1600" b="0" i="1" smtClean="0">
                        <a:latin typeface="Cambria Math" panose="02040503050406030204" pitchFamily="18" charset="0"/>
                      </a:rPr>
                      <m:t>когда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Symbol" panose="05050102010706020507" pitchFamily="18" charset="2"/>
                  <a:buChar char=""/>
                </a:pPr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Диапазон градиентов большой </a:t>
                </a:r>
                <a:r>
                  <a:rPr lang="ru-RU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информативный (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𝑴𝑺</m:t>
                    </m:r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𝑬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𝒎𝒂𝒙</m:t>
                        </m:r>
                      </m:sub>
                    </m:sSub>
                    <m:r>
                      <a:rPr lang="en-US" sz="16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sz="16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𝑴𝑺</m:t>
                    </m:r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𝑬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𝒎𝒊𝒏</m:t>
                        </m:r>
                      </m:sub>
                    </m:sSub>
                    <m:r>
                      <a:rPr lang="en-US" sz="16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≈</m:t>
                    </m:r>
                    <m:r>
                      <a:rPr lang="en-US" sz="16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</m:oMath>
                </a14:m>
                <a:r>
                  <a:rPr lang="ru-RU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, поэтому процесс оптимизации работает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т.е. постановка задачи и схема дает обучаемое пространство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lang="ru-R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C46DB74-AFCA-9F5D-7217-2473A4AEA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094" y="1577189"/>
                <a:ext cx="5377515" cy="2554545"/>
              </a:xfrm>
              <a:prstGeom prst="rect">
                <a:avLst/>
              </a:prstGeom>
              <a:blipFill>
                <a:blip r:embed="rId4"/>
                <a:stretch>
                  <a:fillRect l="-566" t="-713" b="-19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8802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38C00-4B4C-529B-B4B3-31C8C50F5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2F2D307-B403-733D-EB8F-E84B65168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131" y="377399"/>
            <a:ext cx="9621511" cy="1044049"/>
          </a:xfrm>
        </p:spPr>
        <p:txBody>
          <a:bodyPr>
            <a:normAutofit/>
          </a:bodyPr>
          <a:lstStyle/>
          <a:p>
            <a:r>
              <a:rPr lang="ru-RU" sz="2400" b="1" dirty="0"/>
              <a:t>Визуализация ландшафта функции потерь в системе с 8 кубитами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8B08DAC-4C8D-7B34-EC2B-ED0EB9E9D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FA71C-0D3E-470E-A426-350DC7500209}" type="datetime1">
              <a:rPr lang="ru-RU" smtClean="0"/>
              <a:t>18.05.2026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902127F-B855-C6AB-56EA-8C912ADBE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k-KZ" dirty="0"/>
              <a:t>КазНУ им. аль</a:t>
            </a:r>
            <a:r>
              <a:rPr lang="ru-RU" dirty="0"/>
              <a:t>-Фараби</a:t>
            </a:r>
            <a:endParaRPr lang="kk-KZ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43D9C8-E1E7-3C10-D4D7-FEB306F24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3EC1F-A917-497A-BAA4-DAF738FAF6FC}" type="slidenum">
              <a:rPr lang="ru-RU" smtClean="0"/>
              <a:t>8</a:t>
            </a:fld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A9E1AD9-5662-DDB9-E6B9-72C791F99433}"/>
                  </a:ext>
                </a:extLst>
              </p:cNvPr>
              <p:cNvSpPr txBox="1"/>
              <p:nvPr/>
            </p:nvSpPr>
            <p:spPr>
              <a:xfrm>
                <a:off x="925094" y="1577189"/>
                <a:ext cx="5377515" cy="230832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Symbol" panose="05050102010706020507" pitchFamily="18" charset="2"/>
                  <a:buChar char=""/>
                </a:pPr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8-кубитная система, с 24 параметрами (весами)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ru-RU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.,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0, 2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lang="en-US" sz="1600" b="0" dirty="0">
                  <a:latin typeface="Arial" panose="020B0604020202020204" pitchFamily="34" charset="0"/>
                </a:endParaRPr>
              </a:p>
              <a:p>
                <a:pPr marL="285750" indent="-285750">
                  <a:buFont typeface="Symbol" panose="05050102010706020507" pitchFamily="18" charset="2"/>
                  <a:buChar char=""/>
                </a:pPr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Сетка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38×38=1444 </m:t>
                    </m:r>
                  </m:oMath>
                </a14:m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запусков схемы, дискретный метод</a:t>
                </a: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Symbol" panose="05050102010706020507" pitchFamily="18" charset="2"/>
                  <a:buChar char="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=1.059</m:t>
                    </m:r>
                    <m:r>
                      <a:rPr lang="ru-RU" sz="16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≈0.943</m:t>
                    </m:r>
                  </m:oMath>
                </a14:m>
                <a:endParaRPr lang="ru-RU" sz="1600" dirty="0">
                  <a:latin typeface="Arial" panose="020B0604020202020204" pitchFamily="34" charset="0"/>
                </a:endParaRPr>
              </a:p>
              <a:p>
                <a:pPr marL="285750" indent="-285750">
                  <a:buFont typeface="Symbol" panose="05050102010706020507" pitchFamily="18" charset="2"/>
                  <a:buChar char=""/>
                </a:pPr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Диапазон градиентов </a:t>
                </a:r>
                <a:r>
                  <a:rPr lang="ru-RU" sz="16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не информативный (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𝑴𝑺</m:t>
                    </m:r>
                    <m:sSub>
                      <m:sSubPr>
                        <m:ctrlPr>
                          <a:rPr lang="en-US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𝑬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𝒎𝒂𝒙</m:t>
                        </m:r>
                      </m:sub>
                    </m:sSub>
                    <m:r>
                      <a:rPr lang="en-US" sz="1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sz="1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𝑴𝑺</m:t>
                    </m:r>
                    <m:sSub>
                      <m:sSubPr>
                        <m:ctrlPr>
                          <a:rPr lang="en-US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𝑬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𝒎𝒊𝒏</m:t>
                        </m:r>
                      </m:sub>
                    </m:sSub>
                    <m:r>
                      <a:rPr lang="en-US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≈</m:t>
                    </m:r>
                    <m:r>
                      <a:rPr lang="en-US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en-US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en-US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𝟏𝟏𝟔</m:t>
                    </m:r>
                  </m:oMath>
                </a14:m>
                <a:r>
                  <a:rPr lang="ru-RU" sz="16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ru-RU" sz="16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ru-RU" sz="16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34</a:t>
                </a:r>
                <a:r>
                  <a:rPr lang="ru-RU" sz="16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sz="16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раз меньше чем у первой схемы</a:t>
                </a:r>
                <a:r>
                  <a:rPr lang="ru-RU" sz="16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поэтому оптимизация не работает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sz="1600" b="1" dirty="0">
                    <a:solidFill>
                      <a:schemeClr val="accent4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это и есть </a:t>
                </a:r>
                <a:r>
                  <a:rPr lang="en-US" sz="1600" b="1" dirty="0">
                    <a:solidFill>
                      <a:schemeClr val="accent4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Barren Plateau (</a:t>
                </a:r>
                <a:r>
                  <a:rPr lang="ru-RU" sz="1600" b="1" dirty="0">
                    <a:solidFill>
                      <a:schemeClr val="accent4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бесплодные плато</a:t>
                </a:r>
                <a:r>
                  <a:rPr lang="en-US" sz="1600" b="1" dirty="0">
                    <a:solidFill>
                      <a:schemeClr val="accent4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lang="ru-RU" sz="1600" b="1" dirty="0">
                  <a:solidFill>
                    <a:schemeClr val="accent4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A9E1AD9-5662-DDB9-E6B9-72C791F99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094" y="1577189"/>
                <a:ext cx="5377515" cy="2308324"/>
              </a:xfrm>
              <a:prstGeom prst="rect">
                <a:avLst/>
              </a:prstGeom>
              <a:blipFill>
                <a:blip r:embed="rId2"/>
                <a:stretch>
                  <a:fillRect l="-566" t="-789" r="-1244" b="-236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8435735C-1314-4C88-D7C7-EA6C9BE6D1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37853" y="3997472"/>
            <a:ext cx="5364756" cy="21946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1F33EBC-A71D-6EB4-AC3F-B7C09780E8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784" y="1585653"/>
            <a:ext cx="5239617" cy="43347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67362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96A86-258D-8F51-6972-F0878638A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F4FEF1-9ED0-D7D9-83E3-FB34C9215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806" y="365125"/>
            <a:ext cx="9621511" cy="1044049"/>
          </a:xfrm>
        </p:spPr>
        <p:txBody>
          <a:bodyPr>
            <a:normAutofit/>
          </a:bodyPr>
          <a:lstStyle/>
          <a:p>
            <a:r>
              <a:rPr lang="ru-RU" sz="2400" b="1" dirty="0"/>
              <a:t>Эксперимент 1. </a:t>
            </a:r>
            <a:r>
              <a:rPr lang="en-US" sz="2400" b="1" dirty="0"/>
              <a:t>VQC </a:t>
            </a:r>
            <a:r>
              <a:rPr lang="ru-RU" sz="2400" b="1" dirty="0"/>
              <a:t>на классическом датасете </a:t>
            </a:r>
            <a:r>
              <a:rPr lang="en-US" sz="2400" b="1" dirty="0"/>
              <a:t>Iris</a:t>
            </a:r>
            <a:endParaRPr lang="ru-RU" sz="2400" b="1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93C51319-A0F4-15B9-F479-F814F21544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1430" y="1577189"/>
            <a:ext cx="4985475" cy="21208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Дата 6">
            <a:extLst>
              <a:ext uri="{FF2B5EF4-FFF2-40B4-BE49-F238E27FC236}">
                <a16:creationId xmlns:a16="http://schemas.microsoft.com/office/drawing/2014/main" id="{DCC397A4-512A-BF8E-CDA5-F6790028B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39B8D-9B44-4C03-8586-2025FA882966}" type="datetime1">
              <a:rPr lang="ru-RU" smtClean="0"/>
              <a:t>18.05.2026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0E2E44-CD24-7D8F-3196-18CD81E3F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k-KZ" dirty="0"/>
              <a:t>КазНУ им. аль</a:t>
            </a:r>
            <a:r>
              <a:rPr lang="ru-RU" dirty="0"/>
              <a:t>-Фараби</a:t>
            </a:r>
            <a:endParaRPr lang="kk-KZ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048728-04E1-1436-3843-2757F8BA3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3EC1F-A917-497A-BAA4-DAF738FAF6FC}" type="slidenum">
              <a:rPr lang="ru-RU" smtClean="0"/>
              <a:t>9</a:t>
            </a:fld>
            <a:endParaRPr lang="ru-R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D0E50F-0EFE-1717-7F55-ED7929B5B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105" y="3866074"/>
            <a:ext cx="6713800" cy="2404391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038523-4B1B-95E2-9E56-23B9EC60D9E6}"/>
                  </a:ext>
                </a:extLst>
              </p:cNvPr>
              <p:cNvSpPr txBox="1"/>
              <p:nvPr/>
            </p:nvSpPr>
            <p:spPr>
              <a:xfrm>
                <a:off x="925094" y="1577189"/>
                <a:ext cx="5217956" cy="211186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Symbol" panose="05050102010706020507" pitchFamily="18" charset="2"/>
                  <a:buChar char=""/>
                </a:pPr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Бинарнаяа классификация, 4 параметра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/features</a:t>
                </a:r>
              </a:p>
              <a:p>
                <a:pPr marL="285750" indent="-285750">
                  <a:buFont typeface="Symbol" panose="05050102010706020507" pitchFamily="18" charset="2"/>
                  <a:buChar char=""/>
                </a:pPr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4-кубитная система, с 12 параметрами (весами)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ru-RU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lang="ru-RU" sz="1600" b="0" dirty="0">
                  <a:latin typeface="Arial" panose="020B0604020202020204" pitchFamily="34" charset="0"/>
                </a:endParaRPr>
              </a:p>
              <a:p>
                <a:pPr marL="285750" indent="-285750">
                  <a:buFont typeface="Symbol" panose="05050102010706020507" pitchFamily="18" charset="2"/>
                  <a:buChar char=""/>
                </a:pPr>
                <a:r>
                  <a:rPr lang="ru-RU" sz="1600" dirty="0">
                    <a:latin typeface="Arial" panose="020B0604020202020204" pitchFamily="34" charset="0"/>
                  </a:rPr>
                  <a:t>60 эпох, Оптимизатор Адам</a:t>
                </a:r>
                <a:r>
                  <a:rPr lang="en-US" sz="1600" dirty="0">
                    <a:latin typeface="Arial" panose="020B060402020202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𝑙𝑟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</a:rPr>
                  <a:t>)</a:t>
                </a:r>
                <a:r>
                  <a:rPr lang="ru-RU" sz="1600" dirty="0">
                    <a:latin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𝐿𝑜𝑠</m:t>
                    </m:r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0.3148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</a:rPr>
                  <a:t>, </a:t>
                </a:r>
                <a:r>
                  <a:rPr lang="en-US" sz="1600" b="0" dirty="0">
                    <a:latin typeface="Arial" panose="020B0604020202020204" pitchFamily="34" charset="0"/>
                  </a:rPr>
                  <a:t>Accuracy</a:t>
                </a:r>
                <a:r>
                  <a:rPr lang="ru-RU" sz="1600" b="0" dirty="0">
                    <a:latin typeface="Arial" panose="020B0604020202020204" pitchFamily="34" charset="0"/>
                  </a:rPr>
                  <a:t>ф</a:t>
                </a:r>
                <a:r>
                  <a:rPr lang="en-US" sz="1600" b="0" dirty="0">
                    <a:latin typeface="Arial" panose="020B0604020202020204" pitchFamily="34" charset="0"/>
                  </a:rPr>
                  <a:t>=100%</a:t>
                </a:r>
                <a:endParaRPr lang="ru-RU" sz="1600" b="0" dirty="0">
                  <a:latin typeface="Arial" panose="020B0604020202020204" pitchFamily="34" charset="0"/>
                </a:endParaRPr>
              </a:p>
              <a:p>
                <a:pPr marL="285750" indent="-285750">
                  <a:buFont typeface="Symbol" panose="05050102010706020507" pitchFamily="18" charset="2"/>
                  <a:buChar char=""/>
                </a:pPr>
                <a:r>
                  <a:rPr lang="ru-RU" sz="1600" dirty="0">
                    <a:latin typeface="Arial" panose="020B0604020202020204" pitchFamily="34" charset="0"/>
                  </a:rPr>
                  <a:t>Часто для малых систем</a:t>
                </a:r>
                <a:r>
                  <a:rPr lang="en-US" sz="1600" dirty="0">
                    <a:latin typeface="Arial" panose="020B0604020202020204" pitchFamily="34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≤4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</a:rPr>
                  <a:t>)</a:t>
                </a:r>
                <a:r>
                  <a:rPr lang="ru-RU" sz="1600" dirty="0">
                    <a:latin typeface="Arial" panose="020B0604020202020204" pitchFamily="34" charset="0"/>
                  </a:rPr>
                  <a:t>, можно успешно обучать вариационные квантовые модели.</a:t>
                </a:r>
                <a:endParaRPr lang="en-US" sz="1600" b="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038523-4B1B-95E2-9E56-23B9EC60D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094" y="1577189"/>
                <a:ext cx="5217956" cy="2111860"/>
              </a:xfrm>
              <a:prstGeom prst="rect">
                <a:avLst/>
              </a:prstGeom>
              <a:blipFill>
                <a:blip r:embed="rId4"/>
                <a:stretch>
                  <a:fillRect l="-583" t="-862" b="-287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6046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421A6-3458-D035-71C2-36CB0CDEB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B385CED-9D37-C050-D1B3-58B09F6F2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806" y="365125"/>
            <a:ext cx="9621511" cy="1044049"/>
          </a:xfrm>
        </p:spPr>
        <p:txBody>
          <a:bodyPr>
            <a:normAutofit/>
          </a:bodyPr>
          <a:lstStyle/>
          <a:p>
            <a:r>
              <a:rPr lang="ru-RU" sz="2400" b="1" dirty="0"/>
              <a:t>Эксперимент 2. Демонстрация </a:t>
            </a:r>
            <a:r>
              <a:rPr lang="en-US" sz="2400" b="1" dirty="0"/>
              <a:t>Barren Plateau</a:t>
            </a:r>
            <a:endParaRPr lang="ru-RU" sz="2400" b="1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B9DC682-2758-F01B-63C4-4A99721B4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39B8D-9B44-4C03-8586-2025FA882966}" type="datetime1">
              <a:rPr lang="ru-RU" smtClean="0"/>
              <a:t>18.05.2026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042C0B-C265-B27A-DBFB-5622FBF04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k-KZ" dirty="0"/>
              <a:t>КазНУ им. аль</a:t>
            </a:r>
            <a:r>
              <a:rPr lang="ru-RU" dirty="0"/>
              <a:t>-Фараби</a:t>
            </a:r>
            <a:endParaRPr lang="kk-KZ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3548F8-06D8-C55A-4D25-5466E86B6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3EC1F-A917-497A-BAA4-DAF738FAF6FC}" type="slidenum">
              <a:rPr lang="ru-RU" smtClean="0"/>
              <a:t>10</a:t>
            </a:fld>
            <a:endParaRPr lang="ru-RU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4D53B9F-608E-E000-4753-0AB747D8DC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343" r="50000"/>
          <a:stretch>
            <a:fillRect/>
          </a:stretch>
        </p:blipFill>
        <p:spPr>
          <a:xfrm>
            <a:off x="6706753" y="1577189"/>
            <a:ext cx="4641993" cy="3257858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EF2242D-CEFE-AA9C-4AE9-A355A4616B01}"/>
                  </a:ext>
                </a:extLst>
              </p:cNvPr>
              <p:cNvSpPr txBox="1"/>
              <p:nvPr/>
            </p:nvSpPr>
            <p:spPr>
              <a:xfrm>
                <a:off x="925094" y="1577189"/>
                <a:ext cx="5414337" cy="232730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Symbol" panose="05050102010706020507" pitchFamily="18" charset="2"/>
                  <a:buChar char=""/>
                </a:pPr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Задача нахождения идентичного состояния</a:t>
                </a:r>
              </a:p>
              <a:p>
                <a:pPr marL="285750" indent="-285750">
                  <a:buFont typeface="Symbol" panose="05050102010706020507" pitchFamily="18" charset="2"/>
                  <a:buChar char=""/>
                </a:pPr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6-кубитная система, с 12 параметрами (весами), где начальные 𝜃 ∈ [−𝜋, 𝜋]</a:t>
                </a:r>
              </a:p>
              <a:p>
                <a:pPr marL="285750" indent="-285750">
                  <a:buFont typeface="Symbol" panose="05050102010706020507" pitchFamily="18" charset="2"/>
                  <a:buChar char=""/>
                </a:pPr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100 эпох, Оптимизатор SGD (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𝑙𝑟</m:t>
                    </m:r>
                    <m:r>
                      <a:rPr lang="ru-R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=0.2</m:t>
                    </m:r>
                  </m:oMath>
                </a14:m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), </a:t>
                </a:r>
                <a14:m>
                  <m:oMath xmlns:m="http://schemas.openxmlformats.org/officeDocument/2006/math">
                    <m:r>
                      <a:rPr lang="ru-R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𝐿𝑜𝑠</m:t>
                    </m:r>
                    <m:sSub>
                      <m:sSubPr>
                        <m:ctrlPr>
                          <a:rPr lang="ru-RU" sz="16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ru-RU" sz="16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𝑚𝑖𝑛</m:t>
                        </m:r>
                      </m:sub>
                    </m:sSub>
                    <m:r>
                      <a:rPr lang="ru-R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=1.00</m:t>
                    </m:r>
                  </m:oMath>
                </a14:m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ru-R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𝑉𝑎𝑟</m:t>
                    </m:r>
                    <m:r>
                      <a:rPr lang="ru-R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[</m:t>
                    </m:r>
                    <m:r>
                      <a:rPr lang="ru-R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𝑔𝑟𝑎𝑑</m:t>
                    </m:r>
                    <m:r>
                      <a:rPr lang="ru-R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]=</m:t>
                    </m:r>
                    <m:sSup>
                      <m:sSupPr>
                        <m:ctrlPr>
                          <a:rPr lang="en-US" sz="16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ru-RU" sz="16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1.88</m:t>
                        </m:r>
                      </m:e>
                      <m:sup>
                        <m:r>
                          <a:rPr lang="en-US" sz="16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−4</m:t>
                        </m:r>
                      </m:sup>
                    </m:sSup>
                  </m:oMath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Symbol" panose="05050102010706020507" pitchFamily="18" charset="2"/>
                  <a:buChar char=""/>
                </a:pPr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Использование глобальной функции стоимости при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ru-RU" sz="16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  <m:sub>
                        <m:r>
                          <a:rPr lang="ru-RU" sz="16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𝑞</m:t>
                        </m:r>
                      </m:sub>
                    </m:sSub>
                    <m:r>
                      <a:rPr lang="ru-R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=6</m:t>
                    </m:r>
                  </m:oMath>
                </a14:m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вызывает эффект Barren Plateau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из-за чего оптимизатор не может сдвинуться с начальной точки и обучение становится невозможным.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EF2242D-CEFE-AA9C-4AE9-A355A4616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094" y="1577189"/>
                <a:ext cx="5414337" cy="2327304"/>
              </a:xfrm>
              <a:prstGeom prst="rect">
                <a:avLst/>
              </a:prstGeom>
              <a:blipFill>
                <a:blip r:embed="rId3"/>
                <a:stretch>
                  <a:fillRect l="-562" t="-781" r="-787" b="-234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E4E2FC01-8376-D6D1-2BEA-5A701A3173FD}"/>
              </a:ext>
            </a:extLst>
          </p:cNvPr>
          <p:cNvSpPr txBox="1"/>
          <p:nvPr/>
        </p:nvSpPr>
        <p:spPr>
          <a:xfrm>
            <a:off x="925094" y="4080369"/>
            <a:ext cx="6097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i="1" dirty="0"/>
              <a:t>Репликация эксперимента:</a:t>
            </a:r>
          </a:p>
          <a:p>
            <a:r>
              <a:rPr lang="en-US" sz="1200" i="1" dirty="0"/>
              <a:t>Cerezo et al. (2021) "Cost-function-dependent barren plateaus in shallow quantum neural networks".</a:t>
            </a:r>
          </a:p>
        </p:txBody>
      </p:sp>
    </p:spTree>
    <p:extLst>
      <p:ext uri="{BB962C8B-B14F-4D97-AF65-F5344CB8AC3E}">
        <p14:creationId xmlns:p14="http://schemas.microsoft.com/office/powerpoint/2010/main" val="1628635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C38B1-12BF-6550-B68E-B0DC4073D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0753222-15FB-D3E5-0417-2769A1F2E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806" y="365125"/>
            <a:ext cx="9621511" cy="1044049"/>
          </a:xfrm>
        </p:spPr>
        <p:txBody>
          <a:bodyPr>
            <a:normAutofit/>
          </a:bodyPr>
          <a:lstStyle/>
          <a:p>
            <a:r>
              <a:rPr lang="ru-RU" sz="2400" b="1" dirty="0"/>
              <a:t>Эксперимент </a:t>
            </a:r>
            <a:r>
              <a:rPr lang="en-US" sz="2400" b="1" dirty="0"/>
              <a:t>3</a:t>
            </a:r>
            <a:r>
              <a:rPr lang="ru-RU" sz="2400" b="1" dirty="0"/>
              <a:t>. Митигация </a:t>
            </a:r>
            <a:r>
              <a:rPr lang="en-US" sz="2400" b="1" dirty="0"/>
              <a:t>Barren Plateau</a:t>
            </a:r>
            <a:endParaRPr lang="ru-RU" sz="2400" b="1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0155D89-45BB-5625-99AA-213ABB258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39B8D-9B44-4C03-8586-2025FA882966}" type="datetime1">
              <a:rPr lang="ru-RU" smtClean="0"/>
              <a:t>18.05.2026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A8416E-7988-205F-BC79-2BFF46A6A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err="1"/>
              <a:t>Әл</a:t>
            </a:r>
            <a:r>
              <a:rPr lang="ru-RU" dirty="0"/>
              <a:t>-Фараби </a:t>
            </a:r>
            <a:r>
              <a:rPr lang="ru-RU" dirty="0" err="1"/>
              <a:t>атындағы</a:t>
            </a:r>
            <a:r>
              <a:rPr lang="ru-RU" dirty="0"/>
              <a:t> </a:t>
            </a:r>
            <a:r>
              <a:rPr lang="ru-RU" dirty="0" err="1"/>
              <a:t>Қазақ</a:t>
            </a:r>
            <a:r>
              <a:rPr lang="ru-RU" dirty="0"/>
              <a:t> </a:t>
            </a:r>
            <a:r>
              <a:rPr lang="ru-RU" dirty="0" err="1"/>
              <a:t>ұлттық</a:t>
            </a:r>
            <a:r>
              <a:rPr lang="ru-RU" dirty="0"/>
              <a:t> </a:t>
            </a:r>
            <a:r>
              <a:rPr lang="ru-RU" dirty="0" err="1"/>
              <a:t>университеті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BCF6A4-0D80-2C0A-DB25-31D593BAB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3EC1F-A917-497A-BAA4-DAF738FAF6FC}" type="slidenum">
              <a:rPr lang="ru-RU" smtClean="0"/>
              <a:t>11</a:t>
            </a:fld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3B342D-912F-0677-A79E-2839CC7980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62" r="48003"/>
          <a:stretch>
            <a:fillRect/>
          </a:stretch>
        </p:blipFill>
        <p:spPr>
          <a:xfrm>
            <a:off x="6465886" y="1577189"/>
            <a:ext cx="5531779" cy="3239069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41840B-0C98-B79B-D3E8-B16D91A6C6C6}"/>
                  </a:ext>
                </a:extLst>
              </p:cNvPr>
              <p:cNvSpPr txBox="1"/>
              <p:nvPr/>
            </p:nvSpPr>
            <p:spPr>
              <a:xfrm>
                <a:off x="925094" y="1577189"/>
                <a:ext cx="5414337" cy="206210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Symbol" panose="05050102010706020507" pitchFamily="18" charset="2"/>
                  <a:buChar char=""/>
                </a:pPr>
                <a:r>
                  <a:rPr lang="ru-RU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Локальная функция стоимости (измерение вероятности только на 0-м кубите)</a:t>
                </a:r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Symbol" panose="05050102010706020507" pitchFamily="18" charset="2"/>
                  <a:buChar char=""/>
                </a:pPr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100 эпох, Оптимизатор SGD (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𝑙𝑟</m:t>
                    </m:r>
                    <m:r>
                      <a:rPr lang="ru-RU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=0.2</m:t>
                    </m:r>
                  </m:oMath>
                </a14:m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), </a:t>
                </a:r>
                <a14:m>
                  <m:oMath xmlns:m="http://schemas.openxmlformats.org/officeDocument/2006/math">
                    <m:r>
                      <a:rPr lang="ru-RU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𝐿𝑜𝑠</m:t>
                    </m:r>
                    <m:sSub>
                      <m:sSubPr>
                        <m:ctrlPr>
                          <a:rPr lang="ru-RU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ru-RU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𝑚𝑖𝑛</m:t>
                        </m:r>
                      </m:sub>
                    </m:sSub>
                    <m:r>
                      <a:rPr lang="en-US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≈0</m:t>
                    </m:r>
                  </m:oMath>
                </a14:m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ru-RU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ru-RU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ru-RU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𝑔𝑟𝑎𝑑</m:t>
                        </m:r>
                      </m:e>
                    </m:d>
                    <m:r>
                      <a:rPr lang="ru-RU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en-US" sz="16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1.03</m:t>
                        </m:r>
                      </m:e>
                      <m:sup>
                        <m:r>
                          <a:rPr lang="en-US" sz="16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Symbol" panose="05050102010706020507" pitchFamily="18" charset="2"/>
                  <a:buChar char=""/>
                </a:pPr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Переход от глобального измерения к локальному устраняет эффект Barren Plateau </a:t>
                </a:r>
                <a:r>
                  <a:rPr lang="ru-RU" sz="16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для неглубоких цепей и также плохо работает для задач многоклассовой классификации.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41840B-0C98-B79B-D3E8-B16D91A6C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094" y="1577189"/>
                <a:ext cx="5414337" cy="2062103"/>
              </a:xfrm>
              <a:prstGeom prst="rect">
                <a:avLst/>
              </a:prstGeom>
              <a:blipFill>
                <a:blip r:embed="rId3"/>
                <a:stretch>
                  <a:fillRect l="-562" t="-882" b="-264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CBDAFF2-B0B2-A08C-D0E4-51AD6825F0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3919" t="6996" r="-17664" b="7471"/>
          <a:stretch>
            <a:fillRect/>
          </a:stretch>
        </p:blipFill>
        <p:spPr>
          <a:xfrm>
            <a:off x="925095" y="3727123"/>
            <a:ext cx="5414336" cy="24636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83257C-A70B-7E59-51D4-826480E8E4BC}"/>
              </a:ext>
            </a:extLst>
          </p:cNvPr>
          <p:cNvSpPr txBox="1"/>
          <p:nvPr/>
        </p:nvSpPr>
        <p:spPr>
          <a:xfrm>
            <a:off x="6418031" y="4981836"/>
            <a:ext cx="60970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i="1" dirty="0"/>
              <a:t>Репликация эксперимента:</a:t>
            </a:r>
          </a:p>
          <a:p>
            <a:r>
              <a:rPr lang="en-US" sz="1400" i="1" dirty="0"/>
              <a:t>Cerezo et al. (2021) "Cost-function-dependent barren plateaus in shallow quantum neural networks".</a:t>
            </a:r>
          </a:p>
        </p:txBody>
      </p:sp>
    </p:spTree>
    <p:extLst>
      <p:ext uri="{BB962C8B-B14F-4D97-AF65-F5344CB8AC3E}">
        <p14:creationId xmlns:p14="http://schemas.microsoft.com/office/powerpoint/2010/main" val="378345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7C45B-6ABC-062E-084C-8A603ABBA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1ADD053-E67C-A236-8101-ED939D6DA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224" y="358988"/>
            <a:ext cx="9621511" cy="1044049"/>
          </a:xfrm>
        </p:spPr>
        <p:txBody>
          <a:bodyPr>
            <a:normAutofit/>
          </a:bodyPr>
          <a:lstStyle/>
          <a:p>
            <a:r>
              <a:rPr lang="ru-RU" sz="2400" b="1" dirty="0"/>
              <a:t>Влияние функции стоимости на Barren Plateau</a:t>
            </a:r>
            <a:r>
              <a:rPr lang="en-US" sz="2400" b="1" dirty="0"/>
              <a:t> </a:t>
            </a:r>
            <a:r>
              <a:rPr lang="ru-RU" sz="2400" b="1" dirty="0"/>
              <a:t>при использовании </a:t>
            </a:r>
            <a:r>
              <a:rPr lang="en-US" sz="2400" b="1" dirty="0"/>
              <a:t>HQNN</a:t>
            </a:r>
            <a:endParaRPr lang="ru-RU" sz="2400" b="1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9053A7A-5C4C-2728-6083-E03EE8F0D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39B8D-9B44-4C03-8586-2025FA882966}" type="datetime1">
              <a:rPr lang="ru-RU" smtClean="0"/>
              <a:t>18.05.2026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36863D-FC27-2BF8-3053-5AE5B59FD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err="1"/>
              <a:t>Әл</a:t>
            </a:r>
            <a:r>
              <a:rPr lang="ru-RU" dirty="0"/>
              <a:t>-Фараби </a:t>
            </a:r>
            <a:r>
              <a:rPr lang="ru-RU" dirty="0" err="1"/>
              <a:t>атындағы</a:t>
            </a:r>
            <a:r>
              <a:rPr lang="ru-RU" dirty="0"/>
              <a:t> </a:t>
            </a:r>
            <a:r>
              <a:rPr lang="ru-RU" dirty="0" err="1"/>
              <a:t>Қазақ</a:t>
            </a:r>
            <a:r>
              <a:rPr lang="ru-RU" dirty="0"/>
              <a:t> </a:t>
            </a:r>
            <a:r>
              <a:rPr lang="ru-RU" dirty="0" err="1"/>
              <a:t>ұлттық</a:t>
            </a:r>
            <a:r>
              <a:rPr lang="ru-RU" dirty="0"/>
              <a:t> </a:t>
            </a:r>
            <a:r>
              <a:rPr lang="ru-RU" dirty="0" err="1"/>
              <a:t>университеті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62239C-F92E-0C30-DEE4-CC7B77100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3EC1F-A917-497A-BAA4-DAF738FAF6FC}" type="slidenum">
              <a:rPr lang="ru-RU" smtClean="0"/>
              <a:t>12</a:t>
            </a:fld>
            <a:endParaRPr lang="ru-R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3562B5-5FDA-A4C4-E20F-42F5F3C544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276"/>
          <a:stretch>
            <a:fillRect/>
          </a:stretch>
        </p:blipFill>
        <p:spPr>
          <a:xfrm>
            <a:off x="7410138" y="3822303"/>
            <a:ext cx="4114801" cy="2324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2FAA4B7-F405-843D-5710-780AA5CF3A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276"/>
          <a:stretch>
            <a:fillRect/>
          </a:stretch>
        </p:blipFill>
        <p:spPr>
          <a:xfrm>
            <a:off x="7410138" y="1393013"/>
            <a:ext cx="4114801" cy="23245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42FA707-C5B4-60B5-A0B4-6D02460A009D}"/>
              </a:ext>
            </a:extLst>
          </p:cNvPr>
          <p:cNvSpPr txBox="1"/>
          <p:nvPr/>
        </p:nvSpPr>
        <p:spPr>
          <a:xfrm>
            <a:off x="1824092" y="5149072"/>
            <a:ext cx="46042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Image credit: Kashif et al. The Impact of Cost Function Globality and Locality in Hybrid Quantum Neural Networks on NISQ Devices. 2023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ED8C16-8293-3B2B-B470-40C486722BEB}"/>
              </a:ext>
            </a:extLst>
          </p:cNvPr>
          <p:cNvSpPr txBox="1"/>
          <p:nvPr/>
        </p:nvSpPr>
        <p:spPr>
          <a:xfrm>
            <a:off x="925095" y="1577189"/>
            <a:ext cx="6136434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HQNN (QNN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с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PQC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и классическим слоем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Cerezo et al. –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чистый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QNN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Kashif et al – HQNN, 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котором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доказывается: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Для бинарной класс-и, локальные функции стоимости работают и на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HQNN 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Но для мульт. класс-и, глобальные функции стоимости работает лучше </a:t>
            </a:r>
            <a:r>
              <a:rPr lang="ru-RU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не имеют проблем с 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BP</a:t>
            </a:r>
            <a:r>
              <a:rPr lang="ru-RU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но только для неглубоких квантовых цепей 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043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820DC-EE65-A180-5603-2E32016BB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7DE8802-20BF-D82E-47FC-1D477ED8A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224" y="358988"/>
            <a:ext cx="9621511" cy="1044049"/>
          </a:xfrm>
        </p:spPr>
        <p:txBody>
          <a:bodyPr>
            <a:normAutofit/>
          </a:bodyPr>
          <a:lstStyle/>
          <a:p>
            <a:r>
              <a:rPr lang="ru-RU" sz="2400" b="1" dirty="0"/>
              <a:t>Имеющийся литература по </a:t>
            </a:r>
            <a:r>
              <a:rPr lang="en-US" sz="2400" b="1" dirty="0"/>
              <a:t>Barren Plateau</a:t>
            </a:r>
            <a:endParaRPr lang="ru-RU" sz="2400" b="1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3108E24-B8B4-04DD-0673-079BDD356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39B8D-9B44-4C03-8586-2025FA882966}" type="datetime1">
              <a:rPr lang="ru-RU" smtClean="0"/>
              <a:t>18.05.2026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FA928F-F7FE-EE12-E3FA-1D81ED2D3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k-KZ" dirty="0"/>
              <a:t>КазНУ им. аль</a:t>
            </a:r>
            <a:r>
              <a:rPr lang="ru-RU" dirty="0"/>
              <a:t>-Фараби</a:t>
            </a:r>
            <a:endParaRPr lang="kk-KZ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07BBD8-3331-FF2D-7D13-4E51F96E7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3EC1F-A917-497A-BAA4-DAF738FAF6FC}" type="slidenum">
              <a:rPr lang="ru-RU" smtClean="0"/>
              <a:t>13</a:t>
            </a:fld>
            <a:endParaRPr lang="ru-RU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A350B8D-34F6-F431-C1E1-BDC8EFC080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1198" y="1729975"/>
            <a:ext cx="11368917" cy="774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000" dirty="0"/>
              <a:t>Поиск по БД </a:t>
            </a:r>
            <a:r>
              <a:rPr lang="en-US" sz="2000" dirty="0"/>
              <a:t>Scopus: </a:t>
            </a:r>
            <a:r>
              <a:rPr lang="en-US" sz="2000" b="1" i="1" dirty="0"/>
              <a:t>“TITLE-ABS-KEY ( quantum barren plateau )”</a:t>
            </a:r>
          </a:p>
          <a:p>
            <a:r>
              <a:rPr lang="en-US" sz="2000" dirty="0"/>
              <a:t>328</a:t>
            </a:r>
            <a:r>
              <a:rPr lang="ru-RU" sz="2000" dirty="0"/>
              <a:t> статей и обзоров</a:t>
            </a:r>
            <a:r>
              <a:rPr lang="en-US" sz="2000" dirty="0"/>
              <a:t> (~2/3 </a:t>
            </a:r>
            <a:r>
              <a:rPr lang="ru-RU" sz="2000" dirty="0"/>
              <a:t>с </a:t>
            </a:r>
            <a:r>
              <a:rPr lang="en-US" sz="2000" dirty="0"/>
              <a:t>quantum physics, ~computer science)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A22640-AFD3-56D4-4614-881F964681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597" r="60468" b="19334"/>
          <a:stretch>
            <a:fillRect/>
          </a:stretch>
        </p:blipFill>
        <p:spPr>
          <a:xfrm>
            <a:off x="727772" y="2613414"/>
            <a:ext cx="4396711" cy="25047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1862D58-6E34-896A-4BF5-DD46A12FA7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635" t="24629" r="7932" b="16348"/>
          <a:stretch>
            <a:fillRect/>
          </a:stretch>
        </p:blipFill>
        <p:spPr>
          <a:xfrm>
            <a:off x="5560204" y="2613414"/>
            <a:ext cx="4712988" cy="25039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7C8582-8855-341D-2670-4D779B2960E2}"/>
              </a:ext>
            </a:extLst>
          </p:cNvPr>
          <p:cNvSpPr txBox="1"/>
          <p:nvPr/>
        </p:nvSpPr>
        <p:spPr>
          <a:xfrm>
            <a:off x="727772" y="5227054"/>
            <a:ext cx="23468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FF0000"/>
                </a:solidFill>
              </a:rPr>
              <a:t>Проблема </a:t>
            </a:r>
            <a:r>
              <a:rPr lang="en-US" sz="1400" b="1" dirty="0">
                <a:solidFill>
                  <a:srgbClr val="FF0000"/>
                </a:solidFill>
              </a:rPr>
              <a:t>BP</a:t>
            </a:r>
            <a:r>
              <a:rPr lang="ru-RU" sz="1400" b="1" dirty="0">
                <a:solidFill>
                  <a:srgbClr val="FF0000"/>
                </a:solidFill>
              </a:rPr>
              <a:t> (74)</a:t>
            </a:r>
            <a:endParaRPr lang="en-US" sz="1400" b="1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457B9D"/>
                </a:solidFill>
              </a:rPr>
              <a:t>Стратегии митигации (198)</a:t>
            </a:r>
            <a:endParaRPr lang="en-US" sz="1400" b="1" dirty="0">
              <a:solidFill>
                <a:srgbClr val="457B9D"/>
              </a:solidFill>
            </a:endParaRPr>
          </a:p>
          <a:p>
            <a:pPr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D6CFFC-A5A9-6FD7-3EC5-83BB5B75589B}"/>
              </a:ext>
            </a:extLst>
          </p:cNvPr>
          <p:cNvSpPr txBox="1"/>
          <p:nvPr/>
        </p:nvSpPr>
        <p:spPr>
          <a:xfrm>
            <a:off x="2926127" y="5237136"/>
            <a:ext cx="21491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2A9D8F"/>
                </a:solidFill>
              </a:rPr>
              <a:t>Обзорная статья (37)</a:t>
            </a:r>
            <a:endParaRPr lang="en-US" sz="1400" b="1" dirty="0">
              <a:solidFill>
                <a:srgbClr val="2A9D8F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E9C46A"/>
                </a:solidFill>
              </a:rPr>
              <a:t>Остальное (19)</a:t>
            </a:r>
            <a:endParaRPr lang="en-US" sz="1400" b="1" dirty="0">
              <a:solidFill>
                <a:srgbClr val="E9C46A"/>
              </a:solidFill>
            </a:endParaRPr>
          </a:p>
          <a:p>
            <a:pPr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F3B055-0C6F-205A-B84A-4280FBFFAE99}"/>
              </a:ext>
            </a:extLst>
          </p:cNvPr>
          <p:cNvSpPr txBox="1"/>
          <p:nvPr/>
        </p:nvSpPr>
        <p:spPr>
          <a:xfrm>
            <a:off x="5560204" y="5226231"/>
            <a:ext cx="259319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1D3557"/>
                </a:solidFill>
              </a:rPr>
              <a:t>Архитектурные стратегии (72)</a:t>
            </a:r>
            <a:endParaRPr lang="en-US" sz="1400" b="1" dirty="0">
              <a:solidFill>
                <a:srgbClr val="1D3557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457B9D"/>
                </a:solidFill>
              </a:rPr>
              <a:t>Оптимизационные (62)</a:t>
            </a:r>
            <a:endParaRPr lang="en-US" sz="1400" b="1" dirty="0">
              <a:solidFill>
                <a:srgbClr val="457B9D"/>
              </a:solidFill>
            </a:endParaRPr>
          </a:p>
          <a:p>
            <a:pPr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E5106D-42F7-2DDF-693D-35DE4A9FBF2F}"/>
              </a:ext>
            </a:extLst>
          </p:cNvPr>
          <p:cNvSpPr txBox="1"/>
          <p:nvPr/>
        </p:nvSpPr>
        <p:spPr>
          <a:xfrm>
            <a:off x="8045815" y="5226231"/>
            <a:ext cx="291471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A8DADC"/>
                </a:solidFill>
              </a:rPr>
              <a:t>Инициализационные (40)</a:t>
            </a:r>
            <a:endParaRPr lang="en-US" sz="1400" b="1" dirty="0">
              <a:solidFill>
                <a:srgbClr val="A8DADC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728494"/>
                </a:solidFill>
              </a:rPr>
              <a:t>Стратегии функции стоимости (24)</a:t>
            </a:r>
            <a:endParaRPr lang="en-US" sz="1400" b="1" dirty="0">
              <a:solidFill>
                <a:srgbClr val="728494"/>
              </a:solidFill>
            </a:endParaRPr>
          </a:p>
          <a:p>
            <a:pPr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0801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B4CA3-B2EC-5055-8018-3CBD46016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D95CD93-B542-F3C0-E83A-82E978CE3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b="1" dirty="0"/>
              <a:t>Инициализационные</a:t>
            </a:r>
            <a:r>
              <a:rPr lang="kk-KZ" sz="2400" b="1" dirty="0"/>
              <a:t> методы</a:t>
            </a:r>
            <a:endParaRPr lang="ru-RU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D7A1CF4-AEE0-9610-9E83-F60F18E38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39B8D-9B44-4C03-8586-2025FA882966}" type="datetime1">
              <a:rPr lang="ru-RU" smtClean="0"/>
              <a:t>18.05.2026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B80B9E-0FAB-ED0B-FE0F-EE85DC64C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err="1"/>
              <a:t>Әл</a:t>
            </a:r>
            <a:r>
              <a:rPr lang="ru-RU" dirty="0"/>
              <a:t>-Фараби </a:t>
            </a:r>
            <a:r>
              <a:rPr lang="ru-RU" dirty="0" err="1"/>
              <a:t>атындағы</a:t>
            </a:r>
            <a:r>
              <a:rPr lang="ru-RU" dirty="0"/>
              <a:t> </a:t>
            </a:r>
            <a:r>
              <a:rPr lang="ru-RU" dirty="0" err="1"/>
              <a:t>Қазақ</a:t>
            </a:r>
            <a:r>
              <a:rPr lang="ru-RU" dirty="0"/>
              <a:t> </a:t>
            </a:r>
            <a:r>
              <a:rPr lang="ru-RU" dirty="0" err="1"/>
              <a:t>ұлттық</a:t>
            </a:r>
            <a:r>
              <a:rPr lang="ru-RU" dirty="0"/>
              <a:t> </a:t>
            </a:r>
            <a:r>
              <a:rPr lang="ru-RU" dirty="0" err="1"/>
              <a:t>университеті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38D736-45FF-7481-2EC4-C05408C74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3EC1F-A917-497A-BAA4-DAF738FAF6FC}" type="slidenum">
              <a:rPr lang="ru-RU" smtClean="0"/>
              <a:t>14</a:t>
            </a:fld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88553773-C6F4-AFCE-1F0D-79951ABBEAC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205332775"/>
                  </p:ext>
                </p:extLst>
              </p:nvPr>
            </p:nvGraphicFramePr>
            <p:xfrm>
              <a:off x="781381" y="1966430"/>
              <a:ext cx="10780563" cy="2926080"/>
            </p:xfrm>
            <a:graphic>
              <a:graphicData uri="http://schemas.openxmlformats.org/drawingml/2006/table">
                <a:tbl>
                  <a:tblPr firstRow="1" firstCol="1" bandRow="1">
                    <a:tableStyleId>{5A111915-BE36-4E01-A7E5-04B1672EAD32}</a:tableStyleId>
                  </a:tblPr>
                  <a:tblGrid>
                    <a:gridCol w="1446318">
                      <a:extLst>
                        <a:ext uri="{9D8B030D-6E8A-4147-A177-3AD203B41FA5}">
                          <a16:colId xmlns:a16="http://schemas.microsoft.com/office/drawing/2014/main" val="1291971996"/>
                        </a:ext>
                      </a:extLst>
                    </a:gridCol>
                    <a:gridCol w="975769">
                      <a:extLst>
                        <a:ext uri="{9D8B030D-6E8A-4147-A177-3AD203B41FA5}">
                          <a16:colId xmlns:a16="http://schemas.microsoft.com/office/drawing/2014/main" val="1262360271"/>
                        </a:ext>
                      </a:extLst>
                    </a:gridCol>
                    <a:gridCol w="1988360">
                      <a:extLst>
                        <a:ext uri="{9D8B030D-6E8A-4147-A177-3AD203B41FA5}">
                          <a16:colId xmlns:a16="http://schemas.microsoft.com/office/drawing/2014/main" val="2154995057"/>
                        </a:ext>
                      </a:extLst>
                    </a:gridCol>
                    <a:gridCol w="3559410">
                      <a:extLst>
                        <a:ext uri="{9D8B030D-6E8A-4147-A177-3AD203B41FA5}">
                          <a16:colId xmlns:a16="http://schemas.microsoft.com/office/drawing/2014/main" val="29905291"/>
                        </a:ext>
                      </a:extLst>
                    </a:gridCol>
                    <a:gridCol w="2810706">
                      <a:extLst>
                        <a:ext uri="{9D8B030D-6E8A-4147-A177-3AD203B41FA5}">
                          <a16:colId xmlns:a16="http://schemas.microsoft.com/office/drawing/2014/main" val="351914200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Название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Автор</a:t>
                          </a:r>
                          <a:endParaRPr lang="en-US" sz="1600" kern="10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Задача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/ </a:t>
                          </a: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Масштаб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Метод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Ограничения</a:t>
                          </a:r>
                          <a:endParaRPr lang="en-US" sz="1600" kern="10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8443182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An initialization strategy for addressing barren plateaus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Grant et al. (2019)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QNN (MNIST)</a:t>
                          </a:r>
                        </a:p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=10</m:t>
                                </m:r>
                              </m:oMath>
                            </m:oMathPara>
                          </a14:m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=132</m:t>
                                </m:r>
                              </m:oMath>
                            </m:oMathPara>
                          </a14:m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Зеркальные блоки квантовых операторов, отменяющих действие каждого, что в итоге на первой итерации просто передается начальное состояние для каждого кубита.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Теоретическая гарантия только для первого шага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Дальше зеркальность нарушается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50790787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RL-based Initialization for Deep VQC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Peng et al. (2025)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VQE</a:t>
                          </a: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(Гейзенберг, </a:t>
                          </a: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LiH</a:t>
                          </a: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)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  <m:r>
                                  <a:rPr lang="ru-RU" sz="1600" i="1" kern="100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=15</m:t>
                                </m:r>
                              </m:oMath>
                            </m:oMathPara>
                          </a14:m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i="1" kern="100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ru-RU" sz="1600" i="1" kern="100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300</m:t>
                                </m:r>
                              </m:oMath>
                            </m:oMathPara>
                          </a14:m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RL</a:t>
                          </a: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-агент за 50 эпизодов находит начальные параметры вдали от зон БП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RL</a:t>
                          </a: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-алгоритм зависит от задачи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Дополнительные вычислительные затраты на предобучение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6641003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88553773-C6F4-AFCE-1F0D-79951ABBEAC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205332775"/>
                  </p:ext>
                </p:extLst>
              </p:nvPr>
            </p:nvGraphicFramePr>
            <p:xfrm>
              <a:off x="781381" y="1966430"/>
              <a:ext cx="10780563" cy="2926080"/>
            </p:xfrm>
            <a:graphic>
              <a:graphicData uri="http://schemas.openxmlformats.org/drawingml/2006/table">
                <a:tbl>
                  <a:tblPr firstRow="1" firstCol="1" bandRow="1">
                    <a:tableStyleId>{5A111915-BE36-4E01-A7E5-04B1672EAD32}</a:tableStyleId>
                  </a:tblPr>
                  <a:tblGrid>
                    <a:gridCol w="1446318">
                      <a:extLst>
                        <a:ext uri="{9D8B030D-6E8A-4147-A177-3AD203B41FA5}">
                          <a16:colId xmlns:a16="http://schemas.microsoft.com/office/drawing/2014/main" val="1291971996"/>
                        </a:ext>
                      </a:extLst>
                    </a:gridCol>
                    <a:gridCol w="975769">
                      <a:extLst>
                        <a:ext uri="{9D8B030D-6E8A-4147-A177-3AD203B41FA5}">
                          <a16:colId xmlns:a16="http://schemas.microsoft.com/office/drawing/2014/main" val="1262360271"/>
                        </a:ext>
                      </a:extLst>
                    </a:gridCol>
                    <a:gridCol w="1988360">
                      <a:extLst>
                        <a:ext uri="{9D8B030D-6E8A-4147-A177-3AD203B41FA5}">
                          <a16:colId xmlns:a16="http://schemas.microsoft.com/office/drawing/2014/main" val="2154995057"/>
                        </a:ext>
                      </a:extLst>
                    </a:gridCol>
                    <a:gridCol w="3559410">
                      <a:extLst>
                        <a:ext uri="{9D8B030D-6E8A-4147-A177-3AD203B41FA5}">
                          <a16:colId xmlns:a16="http://schemas.microsoft.com/office/drawing/2014/main" val="29905291"/>
                        </a:ext>
                      </a:extLst>
                    </a:gridCol>
                    <a:gridCol w="2810706">
                      <a:extLst>
                        <a:ext uri="{9D8B030D-6E8A-4147-A177-3AD203B41FA5}">
                          <a16:colId xmlns:a16="http://schemas.microsoft.com/office/drawing/2014/main" val="3519142007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Название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Автор</a:t>
                          </a:r>
                          <a:endParaRPr lang="en-US" sz="1600" kern="10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Задача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/ </a:t>
                          </a: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Масштаб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Метод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Ограничения</a:t>
                          </a:r>
                          <a:endParaRPr lang="en-US" sz="1600" kern="10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84431821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An initialization strategy for addressing barren plateaus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Grant et al. (2019)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21713" t="-20747" r="-319878" b="-91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Зеркальные блоки квантовых операторов, отменяющих действие каждого, что в итоге на первой итерации просто передается начальное состояние для каждого кубита.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Теоретическая гарантия только для первого шага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Дальше зеркальность нарушается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507907875"/>
                      </a:ext>
                    </a:extLst>
                  </a:tr>
                  <a:tr h="12192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RL-based Initialization for Deep VQC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Peng et al. (2025)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21713" t="-145500" r="-319878" b="-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RL</a:t>
                          </a: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-агент за 50 эпизодов находит начальные параметры вдали от зон БП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RL</a:t>
                          </a: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-алгоритм зависит от задачи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Дополнительные вычислительные затраты на предобучение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66410034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45995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BF156-B0AF-D64E-F42F-4FB2BEA71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CCDFD6C-0D21-F00A-7999-B2F7AD82F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b="1" dirty="0"/>
              <a:t>Методы функции стоимости</a:t>
            </a:r>
            <a:endParaRPr lang="ru-RU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924724B-C835-AF63-A4FC-11C2AC044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39B8D-9B44-4C03-8586-2025FA882966}" type="datetime1">
              <a:rPr lang="ru-RU" smtClean="0"/>
              <a:t>18.05.2026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430224-3E33-5D6D-DFFE-6CA805E8A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k-KZ" dirty="0"/>
              <a:t>КазНУ им. аль</a:t>
            </a:r>
            <a:r>
              <a:rPr lang="ru-RU" dirty="0"/>
              <a:t>-Фараби</a:t>
            </a:r>
            <a:endParaRPr lang="kk-KZ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D163B4-0EE4-52A2-24AB-2023AA349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3EC1F-A917-497A-BAA4-DAF738FAF6FC}" type="slidenum">
              <a:rPr lang="ru-RU" smtClean="0"/>
              <a:t>15</a:t>
            </a:fld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6B80CB00-912C-E657-5D29-86A58C14A0A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80377242"/>
                  </p:ext>
                </p:extLst>
              </p:nvPr>
            </p:nvGraphicFramePr>
            <p:xfrm>
              <a:off x="781381" y="1966430"/>
              <a:ext cx="10780563" cy="2926080"/>
            </p:xfrm>
            <a:graphic>
              <a:graphicData uri="http://schemas.openxmlformats.org/drawingml/2006/table">
                <a:tbl>
                  <a:tblPr firstRow="1" firstCol="1" bandRow="1">
                    <a:tableStyleId>{5A111915-BE36-4E01-A7E5-04B1672EAD32}</a:tableStyleId>
                  </a:tblPr>
                  <a:tblGrid>
                    <a:gridCol w="1446318">
                      <a:extLst>
                        <a:ext uri="{9D8B030D-6E8A-4147-A177-3AD203B41FA5}">
                          <a16:colId xmlns:a16="http://schemas.microsoft.com/office/drawing/2014/main" val="1291971996"/>
                        </a:ext>
                      </a:extLst>
                    </a:gridCol>
                    <a:gridCol w="975769">
                      <a:extLst>
                        <a:ext uri="{9D8B030D-6E8A-4147-A177-3AD203B41FA5}">
                          <a16:colId xmlns:a16="http://schemas.microsoft.com/office/drawing/2014/main" val="1262360271"/>
                        </a:ext>
                      </a:extLst>
                    </a:gridCol>
                    <a:gridCol w="1988360">
                      <a:extLst>
                        <a:ext uri="{9D8B030D-6E8A-4147-A177-3AD203B41FA5}">
                          <a16:colId xmlns:a16="http://schemas.microsoft.com/office/drawing/2014/main" val="2154995057"/>
                        </a:ext>
                      </a:extLst>
                    </a:gridCol>
                    <a:gridCol w="3559410">
                      <a:extLst>
                        <a:ext uri="{9D8B030D-6E8A-4147-A177-3AD203B41FA5}">
                          <a16:colId xmlns:a16="http://schemas.microsoft.com/office/drawing/2014/main" val="29905291"/>
                        </a:ext>
                      </a:extLst>
                    </a:gridCol>
                    <a:gridCol w="2810706">
                      <a:extLst>
                        <a:ext uri="{9D8B030D-6E8A-4147-A177-3AD203B41FA5}">
                          <a16:colId xmlns:a16="http://schemas.microsoft.com/office/drawing/2014/main" val="351914200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Название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Автор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Задача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/ </a:t>
                          </a: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Масштаб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Метод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Ограничения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8443182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Cost function dependent barren plateaus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Cerezo et al. (2021)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1600" kern="12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Задача сходимости</a:t>
                          </a:r>
                        </a:p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=100</m:t>
                                </m:r>
                              </m:oMath>
                            </m:oMathPara>
                          </a14:m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Локальная 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cost</a:t>
                          </a: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(1 кубит):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𝑉𝑎𝑟</m:t>
                              </m:r>
                              <m:r>
                                <a:rPr lang="ru-RU" sz="1600" i="1" kern="100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 ~</m:t>
                              </m:r>
                              <m:f>
                                <m:fPr>
                                  <m:ctrlPr>
                                    <a:rPr lang="en-US" sz="1600" i="1" kern="100"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600" i="1" kern="100"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600" i="1" kern="100"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  <m:t>𝑝𝑜𝑙𝑦</m:t>
                                  </m:r>
                                  <m:d>
                                    <m:dPr>
                                      <m:ctrlPr>
                                        <a:rPr lang="en-US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Yu Mincho" panose="02020400000000000000" pitchFamily="18" charset="-128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Yu Mincho" panose="02020400000000000000" pitchFamily="18" charset="-128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den>
                              </m:f>
                            </m:oMath>
                          </a14:m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при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  <m:r>
                                <a:rPr lang="ru-RU" sz="1600" i="1" kern="100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 = </m:t>
                              </m:r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1600" i="1" kern="100"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Yu Mincho" panose="02020400000000000000" pitchFamily="18" charset="-128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ru-RU" sz="1600" kern="100">
                                          <a:effectLst/>
                                          <a:latin typeface="Cambria Math" panose="02040503050406030204" pitchFamily="18" charset="0"/>
                                          <a:ea typeface="Yu Mincho" panose="02020400000000000000" pitchFamily="18" charset="-128"/>
                                          <a:cs typeface="Times New Roman" panose="020206030504050203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ru-RU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Yu Mincho" panose="02020400000000000000" pitchFamily="18" charset="-128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vs</a:t>
                          </a: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глобальная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𝑉𝑎𝑟</m:t>
                              </m:r>
                              <m:r>
                                <a:rPr lang="ru-RU" sz="1600" i="1" kern="100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 ~</m:t>
                              </m:r>
                              <m:f>
                                <m:fPr>
                                  <m:ctrlPr>
                                    <a:rPr lang="en-US" sz="1600" i="1" kern="100"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600" i="1" kern="100"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ru-RU" sz="1600" i="1" kern="100"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  <m:t>4ⁿ</m:t>
                                  </m:r>
                                </m:den>
                              </m:f>
                            </m:oMath>
                          </a14:m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даже в мелких схемах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 kern="10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BP</a:t>
                          </a:r>
                          <a:r>
                            <a:rPr lang="ru-RU" sz="1600" kern="10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всё равно наступает при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𝑂</m:t>
                              </m:r>
                              <m:r>
                                <a:rPr lang="ru-RU" sz="1600" i="1" kern="100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𝑝𝑜𝑙𝑦</m:t>
                              </m:r>
                              <m:r>
                                <a:rPr lang="ru-RU" sz="1600" i="1" kern="100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ru-RU" sz="1600" i="1" kern="100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))</m:t>
                              </m:r>
                            </m:oMath>
                          </a14:m>
                          <a:r>
                            <a:rPr lang="ru-RU" sz="1600" kern="10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глубине; для многоклассовых задач может снизить точность</a:t>
                          </a:r>
                          <a:endParaRPr lang="en-US" sz="1600" kern="10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50790787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The impact of cost function globality and locality in HQNN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Kashif &amp; Al-Kuwari (2023)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Классификация (</a:t>
                          </a: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sklearn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digits</a:t>
                          </a: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, 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breast cancer</a:t>
                          </a: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)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i="1" kern="100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  <m:r>
                                  <a:rPr lang="ru-RU" sz="1600" i="1" kern="100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=14</m:t>
                                </m:r>
                              </m:oMath>
                            </m:oMathPara>
                          </a14:m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=15</m:t>
                                </m:r>
                              </m:oMath>
                            </m:oMathPara>
                          </a14:m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Эмпирическое сравнение 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global vs local cost</a:t>
                          </a: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в 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HQNN</a:t>
                          </a: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: классический 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dense</a:t>
                          </a: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-слой частично компенсирует малый градиент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Улучшение точности при глобальной 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cost</a:t>
                          </a: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достигается за счёт мощного классического слоя, а не квантовой части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6641003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6B80CB00-912C-E657-5D29-86A58C14A0A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80377242"/>
                  </p:ext>
                </p:extLst>
              </p:nvPr>
            </p:nvGraphicFramePr>
            <p:xfrm>
              <a:off x="781381" y="1966430"/>
              <a:ext cx="10780563" cy="2926080"/>
            </p:xfrm>
            <a:graphic>
              <a:graphicData uri="http://schemas.openxmlformats.org/drawingml/2006/table">
                <a:tbl>
                  <a:tblPr firstRow="1" firstCol="1" bandRow="1">
                    <a:tableStyleId>{5A111915-BE36-4E01-A7E5-04B1672EAD32}</a:tableStyleId>
                  </a:tblPr>
                  <a:tblGrid>
                    <a:gridCol w="1446318">
                      <a:extLst>
                        <a:ext uri="{9D8B030D-6E8A-4147-A177-3AD203B41FA5}">
                          <a16:colId xmlns:a16="http://schemas.microsoft.com/office/drawing/2014/main" val="1291971996"/>
                        </a:ext>
                      </a:extLst>
                    </a:gridCol>
                    <a:gridCol w="975769">
                      <a:extLst>
                        <a:ext uri="{9D8B030D-6E8A-4147-A177-3AD203B41FA5}">
                          <a16:colId xmlns:a16="http://schemas.microsoft.com/office/drawing/2014/main" val="1262360271"/>
                        </a:ext>
                      </a:extLst>
                    </a:gridCol>
                    <a:gridCol w="1988360">
                      <a:extLst>
                        <a:ext uri="{9D8B030D-6E8A-4147-A177-3AD203B41FA5}">
                          <a16:colId xmlns:a16="http://schemas.microsoft.com/office/drawing/2014/main" val="2154995057"/>
                        </a:ext>
                      </a:extLst>
                    </a:gridCol>
                    <a:gridCol w="3559410">
                      <a:extLst>
                        <a:ext uri="{9D8B030D-6E8A-4147-A177-3AD203B41FA5}">
                          <a16:colId xmlns:a16="http://schemas.microsoft.com/office/drawing/2014/main" val="29905291"/>
                        </a:ext>
                      </a:extLst>
                    </a:gridCol>
                    <a:gridCol w="2810706">
                      <a:extLst>
                        <a:ext uri="{9D8B030D-6E8A-4147-A177-3AD203B41FA5}">
                          <a16:colId xmlns:a16="http://schemas.microsoft.com/office/drawing/2014/main" val="3519142007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Название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Автор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Задача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/ </a:t>
                          </a: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Масштаб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Метод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Ограничения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84431821"/>
                      </a:ext>
                    </a:extLst>
                  </a:tr>
                  <a:tr h="12192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Cost function dependent barren plateaus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Cerezo et al. (2021)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21713" t="-24876" r="-319878" b="-129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24144" t="-24876" r="-79110" b="-129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83948" t="-24876" r="-217" b="-129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7907875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The impact of cost function globality and locality in HQNN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Kashif &amp; Al-Kuwari (2023)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21713" t="-104583" r="-319878" b="-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Эмпирическое сравнение 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global vs local cost</a:t>
                          </a: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в 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HQNN</a:t>
                          </a: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: классический 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dense</a:t>
                          </a: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-слой частично компенсирует малый градиент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Улучшение точности при глобальной 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cost</a:t>
                          </a: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достигается за счёт мощного классического слоя, а не квантовой части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66410034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44477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B2B59-CA32-35DA-FD19-20254E3F4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12EB717-5AF2-2F04-7A36-0E5BE32E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b="1" dirty="0"/>
              <a:t>Архитектурные методы</a:t>
            </a:r>
            <a:endParaRPr lang="ru-RU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7564A3B-738A-E293-E42D-C460E7B14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39B8D-9B44-4C03-8586-2025FA882966}" type="datetime1">
              <a:rPr lang="ru-RU" smtClean="0"/>
              <a:t>18.05.2026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7103C4-C6CF-376D-D17E-280E1E876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k-KZ" dirty="0"/>
              <a:t>КазНУ им. аль</a:t>
            </a:r>
            <a:r>
              <a:rPr lang="ru-RU" dirty="0"/>
              <a:t>-Фараби</a:t>
            </a:r>
            <a:endParaRPr lang="kk-KZ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E04AF7-75F4-1EAD-C31A-1DBE1E28D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3EC1F-A917-497A-BAA4-DAF738FAF6FC}" type="slidenum">
              <a:rPr lang="ru-RU" smtClean="0"/>
              <a:t>16</a:t>
            </a:fld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2F67D61A-8110-C729-9EF9-BC5A0096F03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78675073"/>
                  </p:ext>
                </p:extLst>
              </p:nvPr>
            </p:nvGraphicFramePr>
            <p:xfrm>
              <a:off x="781381" y="1966430"/>
              <a:ext cx="10780563" cy="3413760"/>
            </p:xfrm>
            <a:graphic>
              <a:graphicData uri="http://schemas.openxmlformats.org/drawingml/2006/table">
                <a:tbl>
                  <a:tblPr firstRow="1" firstCol="1" bandRow="1">
                    <a:tableStyleId>{5A111915-BE36-4E01-A7E5-04B1672EAD32}</a:tableStyleId>
                  </a:tblPr>
                  <a:tblGrid>
                    <a:gridCol w="1446318">
                      <a:extLst>
                        <a:ext uri="{9D8B030D-6E8A-4147-A177-3AD203B41FA5}">
                          <a16:colId xmlns:a16="http://schemas.microsoft.com/office/drawing/2014/main" val="1291971996"/>
                        </a:ext>
                      </a:extLst>
                    </a:gridCol>
                    <a:gridCol w="975769">
                      <a:extLst>
                        <a:ext uri="{9D8B030D-6E8A-4147-A177-3AD203B41FA5}">
                          <a16:colId xmlns:a16="http://schemas.microsoft.com/office/drawing/2014/main" val="1262360271"/>
                        </a:ext>
                      </a:extLst>
                    </a:gridCol>
                    <a:gridCol w="1988360">
                      <a:extLst>
                        <a:ext uri="{9D8B030D-6E8A-4147-A177-3AD203B41FA5}">
                          <a16:colId xmlns:a16="http://schemas.microsoft.com/office/drawing/2014/main" val="2154995057"/>
                        </a:ext>
                      </a:extLst>
                    </a:gridCol>
                    <a:gridCol w="3559410">
                      <a:extLst>
                        <a:ext uri="{9D8B030D-6E8A-4147-A177-3AD203B41FA5}">
                          <a16:colId xmlns:a16="http://schemas.microsoft.com/office/drawing/2014/main" val="29905291"/>
                        </a:ext>
                      </a:extLst>
                    </a:gridCol>
                    <a:gridCol w="2810706">
                      <a:extLst>
                        <a:ext uri="{9D8B030D-6E8A-4147-A177-3AD203B41FA5}">
                          <a16:colId xmlns:a16="http://schemas.microsoft.com/office/drawing/2014/main" val="351914200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Название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Автор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Задача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/ </a:t>
                          </a: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Масштаб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Метод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Ограничения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8443182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Absence of Barren Plateaus in Quantum Convolutional Neural Networks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Pesah et al. (2021)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Численная верификация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i="1" kern="100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  <m:r>
                                  <a:rPr lang="ru-RU" sz="1600" i="1" kern="100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&lt;26</m:t>
                                </m:r>
                              </m:oMath>
                            </m:oMathPara>
                          </a14:m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i="1" kern="100" dirty="0" smtClean="0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Arial" panose="020B0604020202020204" pitchFamily="34" charset="0"/>
                                  </a:rPr>
                                  <m:t>𝐷</m:t>
                                </m:r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𝑙𝑜𝑔</m:t>
                                </m:r>
                                <m:r>
                                  <a:rPr lang="ru-RU" sz="1600" i="1" kern="100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ru-RU" sz="1600" i="1" kern="100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  <m:r>
                                  <a:rPr lang="ru-RU" sz="1600" i="1" kern="100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QCNN</a:t>
                          </a: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чередует конволюционные и 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pooling</a:t>
                          </a: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-слои, уменьшая число кубитов вдвое на каждом шаге. 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Только для специфических задач с локальной структурой данных; нет гарантии глобального минимума.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50790787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ResQNets</a:t>
                          </a:r>
                          <a:endParaRPr lang="en-US" sz="16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Kashif and Al-Kuwari (2024)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kern="12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Задача сходимости</a:t>
                          </a:r>
                          <a:endParaRPr lang="en-US" sz="1600" kern="12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6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𝑁</m:t>
                              </m:r>
                              <m:r>
                                <a:rPr lang="ru-RU" sz="16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&lt;20</m:t>
                              </m:r>
                            </m:oMath>
                          </a14:m>
                          <a:r>
                            <a:rPr lang="ru-RU" sz="1600" kern="12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 в симуляции</a:t>
                          </a:r>
                          <a:endParaRPr lang="en-US" sz="1600" kern="12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6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𝑁</m:t>
                              </m:r>
                              <m:r>
                                <a:rPr lang="ru-RU" sz="16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=5</m:t>
                              </m:r>
                            </m:oMath>
                          </a14:m>
                          <a:r>
                            <a:rPr lang="ru-RU" sz="1600" kern="12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 на реальном устройстве</a:t>
                          </a:r>
                          <a:endParaRPr lang="en-US" sz="1600" kern="12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Skip-connections </a:t>
                          </a: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обходят глубокие участки цепи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ru-RU" sz="1600" kern="12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Эффективность метода не доказано математически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ru-RU" sz="1600" kern="12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Сильно шумит на реальном квантовом железе</a:t>
                          </a:r>
                        </a:p>
                        <a:p>
                          <a:pPr algn="l">
                            <a:buNone/>
                          </a:pPr>
                          <a:endParaRPr lang="ru-RU" sz="1600" kern="12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  <a:p>
                          <a:pPr algn="l">
                            <a:buNone/>
                          </a:pP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6641003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2F67D61A-8110-C729-9EF9-BC5A0096F03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78675073"/>
                  </p:ext>
                </p:extLst>
              </p:nvPr>
            </p:nvGraphicFramePr>
            <p:xfrm>
              <a:off x="781381" y="1966430"/>
              <a:ext cx="10780563" cy="3413760"/>
            </p:xfrm>
            <a:graphic>
              <a:graphicData uri="http://schemas.openxmlformats.org/drawingml/2006/table">
                <a:tbl>
                  <a:tblPr firstRow="1" firstCol="1" bandRow="1">
                    <a:tableStyleId>{5A111915-BE36-4E01-A7E5-04B1672EAD32}</a:tableStyleId>
                  </a:tblPr>
                  <a:tblGrid>
                    <a:gridCol w="1446318">
                      <a:extLst>
                        <a:ext uri="{9D8B030D-6E8A-4147-A177-3AD203B41FA5}">
                          <a16:colId xmlns:a16="http://schemas.microsoft.com/office/drawing/2014/main" val="1291971996"/>
                        </a:ext>
                      </a:extLst>
                    </a:gridCol>
                    <a:gridCol w="975769">
                      <a:extLst>
                        <a:ext uri="{9D8B030D-6E8A-4147-A177-3AD203B41FA5}">
                          <a16:colId xmlns:a16="http://schemas.microsoft.com/office/drawing/2014/main" val="1262360271"/>
                        </a:ext>
                      </a:extLst>
                    </a:gridCol>
                    <a:gridCol w="1988360">
                      <a:extLst>
                        <a:ext uri="{9D8B030D-6E8A-4147-A177-3AD203B41FA5}">
                          <a16:colId xmlns:a16="http://schemas.microsoft.com/office/drawing/2014/main" val="2154995057"/>
                        </a:ext>
                      </a:extLst>
                    </a:gridCol>
                    <a:gridCol w="3559410">
                      <a:extLst>
                        <a:ext uri="{9D8B030D-6E8A-4147-A177-3AD203B41FA5}">
                          <a16:colId xmlns:a16="http://schemas.microsoft.com/office/drawing/2014/main" val="29905291"/>
                        </a:ext>
                      </a:extLst>
                    </a:gridCol>
                    <a:gridCol w="2810706">
                      <a:extLst>
                        <a:ext uri="{9D8B030D-6E8A-4147-A177-3AD203B41FA5}">
                          <a16:colId xmlns:a16="http://schemas.microsoft.com/office/drawing/2014/main" val="3519142007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Название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Автор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Задача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/ </a:t>
                          </a: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Масштаб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Метод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Ограничения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84431821"/>
                      </a:ext>
                    </a:extLst>
                  </a:tr>
                  <a:tr h="170688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Absence of Barren Plateaus in Quantum Convolutional Neural Networks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Pesah et al. (2021)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21713" t="-17794" r="-319878" b="-85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QCNN</a:t>
                          </a: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чередует конволюционные и 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pooling</a:t>
                          </a: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-слои, уменьшая число кубитов вдвое на каждом шаге. 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Только для специфических задач с локальной структурой данных; нет гарантии глобального минимума.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507907875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ResQNets</a:t>
                          </a:r>
                          <a:endParaRPr lang="en-US" sz="16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Kashif and Al-Kuwari (2024)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21713" t="-137917" r="-319878" b="-4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Skip-connections </a:t>
                          </a: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обходят глубокие участки цепи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ru-RU" sz="1600" kern="12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Эффективность метода не доказано математически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ru-RU" sz="1600" kern="12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Сильно шумит на реальном квантовом железе</a:t>
                          </a:r>
                        </a:p>
                        <a:p>
                          <a:pPr algn="l">
                            <a:buNone/>
                          </a:pPr>
                          <a:endParaRPr lang="ru-RU" sz="1600" kern="12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  <a:p>
                          <a:pPr algn="l">
                            <a:buNone/>
                          </a:pP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66410034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24449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558AE-68BA-4557-0192-0734D9C6B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12F7E09-F1BD-DFFA-8A0F-C487CA89B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b="1" dirty="0"/>
              <a:t>Оптимизационные методы</a:t>
            </a:r>
            <a:endParaRPr lang="ru-RU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DA6BE53-360D-D128-63E9-1F466B1A6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39B8D-9B44-4C03-8586-2025FA882966}" type="datetime1">
              <a:rPr lang="ru-RU" smtClean="0"/>
              <a:t>18.05.2026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42FD94-B3B2-A39F-6541-2DEFC400A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k-KZ" dirty="0"/>
              <a:t>КазНУ им. аль</a:t>
            </a:r>
            <a:r>
              <a:rPr lang="ru-RU" dirty="0"/>
              <a:t>-Фараби</a:t>
            </a:r>
            <a:endParaRPr lang="kk-KZ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963270-E8D2-912C-C662-E5075D0DF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3EC1F-A917-497A-BAA4-DAF738FAF6FC}" type="slidenum">
              <a:rPr lang="ru-RU" smtClean="0"/>
              <a:t>17</a:t>
            </a:fld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7B7A8ED2-4CF6-C6A9-D2D9-F38161F4D30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79977922"/>
                  </p:ext>
                </p:extLst>
              </p:nvPr>
            </p:nvGraphicFramePr>
            <p:xfrm>
              <a:off x="781381" y="1966430"/>
              <a:ext cx="10780563" cy="2926080"/>
            </p:xfrm>
            <a:graphic>
              <a:graphicData uri="http://schemas.openxmlformats.org/drawingml/2006/table">
                <a:tbl>
                  <a:tblPr firstRow="1" firstCol="1" bandRow="1">
                    <a:tableStyleId>{5A111915-BE36-4E01-A7E5-04B1672EAD32}</a:tableStyleId>
                  </a:tblPr>
                  <a:tblGrid>
                    <a:gridCol w="1446318">
                      <a:extLst>
                        <a:ext uri="{9D8B030D-6E8A-4147-A177-3AD203B41FA5}">
                          <a16:colId xmlns:a16="http://schemas.microsoft.com/office/drawing/2014/main" val="1291971996"/>
                        </a:ext>
                      </a:extLst>
                    </a:gridCol>
                    <a:gridCol w="975769">
                      <a:extLst>
                        <a:ext uri="{9D8B030D-6E8A-4147-A177-3AD203B41FA5}">
                          <a16:colId xmlns:a16="http://schemas.microsoft.com/office/drawing/2014/main" val="1262360271"/>
                        </a:ext>
                      </a:extLst>
                    </a:gridCol>
                    <a:gridCol w="1988360">
                      <a:extLst>
                        <a:ext uri="{9D8B030D-6E8A-4147-A177-3AD203B41FA5}">
                          <a16:colId xmlns:a16="http://schemas.microsoft.com/office/drawing/2014/main" val="2154995057"/>
                        </a:ext>
                      </a:extLst>
                    </a:gridCol>
                    <a:gridCol w="3559410">
                      <a:extLst>
                        <a:ext uri="{9D8B030D-6E8A-4147-A177-3AD203B41FA5}">
                          <a16:colId xmlns:a16="http://schemas.microsoft.com/office/drawing/2014/main" val="29905291"/>
                        </a:ext>
                      </a:extLst>
                    </a:gridCol>
                    <a:gridCol w="2810706">
                      <a:extLst>
                        <a:ext uri="{9D8B030D-6E8A-4147-A177-3AD203B41FA5}">
                          <a16:colId xmlns:a16="http://schemas.microsoft.com/office/drawing/2014/main" val="351914200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Название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Автор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Задача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/ </a:t>
                          </a: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Масштаб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Метод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Ограничения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8443182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Layerwise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learning for quantum neural networks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Skolik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et al. (2021)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Классификация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MNIST</a:t>
                          </a:r>
                        </a:p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=8</m:t>
                                </m:r>
                              </m:oMath>
                            </m:oMathPara>
                          </a14:m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i="1" kern="100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lang="ru-RU" sz="1600" i="1" kern="100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=21</m:t>
                                </m:r>
                              </m:oMath>
                            </m:oMathPara>
                          </a14:m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Послойное наращивание схемы, обучается только последний добавленный слой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Вычислительно дороже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Неизвестна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масштабируемость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на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большие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системы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  <a:p>
                          <a:pPr algn="l">
                            <a:buNone/>
                          </a:pP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Риск локальных минимумов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50790787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Avoiding BP with Classical DNN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Friedrich and </a:t>
                          </a:r>
                          <a:r>
                            <a:rPr lang="en-US" sz="1600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Maziero</a:t>
                          </a:r>
                          <a:r>
                            <a:rPr lang="en-US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(2022)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Задача сходимости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  <a:p>
                          <a:pPr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  <m:r>
                                  <a:rPr lang="ru-RU" sz="1600" i="1" kern="100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&lt;10</m:t>
                                </m:r>
                              </m:oMath>
                            </m:oMathPara>
                          </a14:m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  <a:p>
                          <a:pPr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&lt;30</m:t>
                                </m:r>
                              </m:oMath>
                            </m:oMathPara>
                          </a14:m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600" i="1" kern="100" dirty="0" smtClean="0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Arial" panose="020B0604020202020204" pitchFamily="34" charset="0"/>
                                </a:rPr>
                                <m:t>𝜃</m:t>
                              </m:r>
                            </m:oMath>
                          </a14:m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генерируются </a:t>
                          </a:r>
                          <a:r>
                            <a:rPr lang="ru-RU" sz="1600" kern="100" baseline="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с помощью</a:t>
                          </a:r>
                          <a:r>
                            <a:rPr lang="en-US" sz="1600" kern="100" baseline="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DNN,</a:t>
                          </a:r>
                          <a:r>
                            <a:rPr lang="en-US" sz="1600" kern="100" baseline="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ru-RU" sz="1600" kern="100" baseline="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вторая внедренная модель.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ru-RU" sz="1600" kern="10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Нет математического </a:t>
                          </a: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объяснения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Нет реального датасета. </a:t>
                          </a: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Неизвестна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масштабируемость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на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большие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системы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6641003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7B7A8ED2-4CF6-C6A9-D2D9-F38161F4D30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79977922"/>
                  </p:ext>
                </p:extLst>
              </p:nvPr>
            </p:nvGraphicFramePr>
            <p:xfrm>
              <a:off x="781381" y="1966430"/>
              <a:ext cx="10780563" cy="2926080"/>
            </p:xfrm>
            <a:graphic>
              <a:graphicData uri="http://schemas.openxmlformats.org/drawingml/2006/table">
                <a:tbl>
                  <a:tblPr firstRow="1" firstCol="1" bandRow="1">
                    <a:tableStyleId>{5A111915-BE36-4E01-A7E5-04B1672EAD32}</a:tableStyleId>
                  </a:tblPr>
                  <a:tblGrid>
                    <a:gridCol w="1446318">
                      <a:extLst>
                        <a:ext uri="{9D8B030D-6E8A-4147-A177-3AD203B41FA5}">
                          <a16:colId xmlns:a16="http://schemas.microsoft.com/office/drawing/2014/main" val="1291971996"/>
                        </a:ext>
                      </a:extLst>
                    </a:gridCol>
                    <a:gridCol w="975769">
                      <a:extLst>
                        <a:ext uri="{9D8B030D-6E8A-4147-A177-3AD203B41FA5}">
                          <a16:colId xmlns:a16="http://schemas.microsoft.com/office/drawing/2014/main" val="1262360271"/>
                        </a:ext>
                      </a:extLst>
                    </a:gridCol>
                    <a:gridCol w="1988360">
                      <a:extLst>
                        <a:ext uri="{9D8B030D-6E8A-4147-A177-3AD203B41FA5}">
                          <a16:colId xmlns:a16="http://schemas.microsoft.com/office/drawing/2014/main" val="2154995057"/>
                        </a:ext>
                      </a:extLst>
                    </a:gridCol>
                    <a:gridCol w="3559410">
                      <a:extLst>
                        <a:ext uri="{9D8B030D-6E8A-4147-A177-3AD203B41FA5}">
                          <a16:colId xmlns:a16="http://schemas.microsoft.com/office/drawing/2014/main" val="29905291"/>
                        </a:ext>
                      </a:extLst>
                    </a:gridCol>
                    <a:gridCol w="2810706">
                      <a:extLst>
                        <a:ext uri="{9D8B030D-6E8A-4147-A177-3AD203B41FA5}">
                          <a16:colId xmlns:a16="http://schemas.microsoft.com/office/drawing/2014/main" val="3519142007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Название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Автор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Задача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/ </a:t>
                          </a: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Масштаб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Метод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Ограничения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84431821"/>
                      </a:ext>
                    </a:extLst>
                  </a:tr>
                  <a:tr h="12192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Layerwise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learning for quantum neural networks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Skolik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et al. (2021)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21713" t="-24876" r="-319878" b="-129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Послойное наращивание схемы, обучается только последний добавленный слой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Вычислительно дороже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Неизвестна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масштабируемость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на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большие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системы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  <a:p>
                          <a:pPr algn="l">
                            <a:buNone/>
                          </a:pP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Риск локальных минимумов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507907875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Avoiding BP with Classical DNN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Friedrich and </a:t>
                          </a:r>
                          <a:r>
                            <a:rPr lang="en-US" sz="1600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Maziero</a:t>
                          </a:r>
                          <a:r>
                            <a:rPr lang="en-US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(2022)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21713" t="-104583" r="-319878" b="-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24144" t="-104583" r="-79110" b="-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ru-RU" sz="1600" kern="10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Нет математического </a:t>
                          </a: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объяснения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ru-RU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Нет реального датасета. </a:t>
                          </a: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Неизвестна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масштабируемость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на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большие</a:t>
                          </a:r>
                          <a:r>
                            <a:rPr lang="en-US" sz="1600" kern="100" dirty="0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en-US" sz="1600" kern="100" dirty="0" err="1">
                              <a:effectLst/>
                              <a:latin typeface="Arial" panose="020B0604020202020204" pitchFamily="34" charset="0"/>
                              <a:ea typeface="Yu Mincho" panose="02020400000000000000" pitchFamily="18" charset="-128"/>
                              <a:cs typeface="Arial" panose="020B0604020202020204" pitchFamily="34" charset="0"/>
                            </a:rPr>
                            <a:t>системы</a:t>
                          </a:r>
                          <a:endParaRPr lang="en-US" sz="1600" kern="100" dirty="0">
                            <a:effectLst/>
                            <a:latin typeface="Arial" panose="020B0604020202020204" pitchFamily="34" charset="0"/>
                            <a:ea typeface="Yu Mincho" panose="02020400000000000000" pitchFamily="18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66410034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42431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Объект 10">
            <a:extLst>
              <a:ext uri="{FF2B5EF4-FFF2-40B4-BE49-F238E27FC236}">
                <a16:creationId xmlns:a16="http://schemas.microsoft.com/office/drawing/2014/main" id="{3C8A5C82-33C5-40E9-88C6-25A89704F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Symbol" panose="05050102010706020507" pitchFamily="18" charset="2"/>
              <a:buChar char="-"/>
            </a:pPr>
            <a:r>
              <a:rPr lang="ru-RU" dirty="0"/>
              <a:t>Изучена и реплицирована основная, передовая литература по БП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ru-RU" dirty="0"/>
              <a:t>Реализован </a:t>
            </a:r>
            <a:r>
              <a:rPr lang="en-US" dirty="0"/>
              <a:t>VQC </a:t>
            </a:r>
            <a:r>
              <a:rPr lang="ru-RU" dirty="0"/>
              <a:t>на датасете </a:t>
            </a:r>
            <a:r>
              <a:rPr lang="en-US" dirty="0"/>
              <a:t>Iris</a:t>
            </a:r>
            <a:r>
              <a:rPr lang="ru-RU" dirty="0"/>
              <a:t> на 4 кубитах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ru-RU" dirty="0"/>
              <a:t>Gap - большинство методов работают для малых и неглубоких схем, не верифицированы на квантовом железе, либо полагаются на квантово-ненативные методы, такие как классические слои, </a:t>
            </a:r>
            <a:r>
              <a:rPr lang="en-US" dirty="0"/>
              <a:t>LLM</a:t>
            </a:r>
            <a:endParaRPr lang="ru-RU" dirty="0"/>
          </a:p>
          <a:p>
            <a:pPr>
              <a:buFont typeface="Symbol" panose="05050102010706020507" pitchFamily="18" charset="2"/>
              <a:buChar char="-"/>
            </a:pPr>
            <a:r>
              <a:rPr lang="ru-RU" dirty="0"/>
              <a:t>Соавтор статьи на </a:t>
            </a:r>
            <a:r>
              <a:rPr lang="en-US" dirty="0" err="1"/>
              <a:t>Wliey</a:t>
            </a:r>
            <a:r>
              <a:rPr lang="en-US" dirty="0"/>
              <a:t> (Scopus Q2): </a:t>
            </a:r>
            <a:r>
              <a:rPr lang="en-US" b="1" dirty="0"/>
              <a:t>Quantum–Classical Hybrid Architecture for Solving the Muskat–Leverett Model</a:t>
            </a:r>
            <a:endParaRPr lang="ru-RU" b="1" dirty="0"/>
          </a:p>
          <a:p>
            <a:pPr marL="0" indent="0">
              <a:buNone/>
            </a:pPr>
            <a:r>
              <a:rPr lang="ru-RU" b="1" dirty="0"/>
              <a:t>Планируется: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ru-RU" dirty="0"/>
              <a:t>Дальнейшее изучение имеющийся литературы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ru-RU" dirty="0"/>
              <a:t>Изучение методов проверки обучаемости квантовой модели</a:t>
            </a:r>
            <a:r>
              <a:rPr lang="en-US" dirty="0"/>
              <a:t> (LED, GED)</a:t>
            </a:r>
            <a:r>
              <a:rPr lang="ru-RU" dirty="0"/>
              <a:t>: </a:t>
            </a:r>
            <a:r>
              <a:rPr lang="en-US" i="1" dirty="0"/>
              <a:t>Cybulski et al. Impact of Barren Plateaus Countermeasures on the Quantum Neural Network Capacity to Learn. 2023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ru-RU" dirty="0"/>
              <a:t>Изучение квантово-нативных методов для </a:t>
            </a:r>
            <a:r>
              <a:rPr lang="en-US" dirty="0"/>
              <a:t>VQC</a:t>
            </a:r>
            <a:r>
              <a:rPr lang="ru-RU" dirty="0"/>
              <a:t> – другие архитектуры анзаца, другие методы оптимизации квантовой схемы</a:t>
            </a:r>
          </a:p>
          <a:p>
            <a:pPr>
              <a:buFont typeface="Symbol" panose="05050102010706020507" pitchFamily="18" charset="2"/>
              <a:buChar char="-"/>
            </a:pPr>
            <a:endParaRPr lang="ru-RU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CAD228C-EFCB-4380-9B89-C33E83F1C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1E462-3017-480F-B32E-3DD937001A55}" type="datetime1">
              <a:rPr lang="ru-RU" smtClean="0"/>
              <a:t>18.05.2026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B42A9F9-31A3-49FC-9A35-FDEE00785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k-KZ" dirty="0"/>
              <a:t>КазНУ им. аль</a:t>
            </a:r>
            <a:r>
              <a:rPr lang="ru-RU" dirty="0"/>
              <a:t>-Фараби</a:t>
            </a:r>
            <a:endParaRPr lang="kk-KZ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66B233-7D02-4B9C-9B84-F9FB8908B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3EC1F-A917-497A-BAA4-DAF738FAF6FC}" type="slidenum">
              <a:rPr lang="ru-RU" smtClean="0"/>
              <a:t>18</a:t>
            </a:fld>
            <a:endParaRPr lang="ru-RU" dirty="0"/>
          </a:p>
        </p:txBody>
      </p:sp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E430503A-DD12-A766-FD80-4E545B6CE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5891" y="365125"/>
            <a:ext cx="9621511" cy="1044049"/>
          </a:xfrm>
        </p:spPr>
        <p:txBody>
          <a:bodyPr>
            <a:normAutofit/>
          </a:bodyPr>
          <a:lstStyle/>
          <a:p>
            <a:r>
              <a:rPr lang="ru-RU" sz="2400" b="1" dirty="0"/>
              <a:t>Заключение и дальнейшая работа</a:t>
            </a:r>
            <a:endParaRPr lang="ru-RU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1578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3331</TotalTime>
  <Words>1578</Words>
  <Application>Microsoft Office PowerPoint</Application>
  <PresentationFormat>Widescreen</PresentationFormat>
  <Paragraphs>229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Symbol</vt:lpstr>
      <vt:lpstr>Тема Office</vt:lpstr>
      <vt:lpstr>Оптимизация вариационных квантовых алгоритмов  для решения проблемы бесплодных плато</vt:lpstr>
      <vt:lpstr>Цель, задачи, актуальность и новизна работы</vt:lpstr>
      <vt:lpstr>Гибридный цикл работы QNN (VQA)</vt:lpstr>
      <vt:lpstr>Архитектура квантовой схемы. Forward pass</vt:lpstr>
      <vt:lpstr>Архитектура квантовой схемы. Backward pass</vt:lpstr>
      <vt:lpstr>Визуализация экспоненциального убывания градиентов</vt:lpstr>
      <vt:lpstr>Визуализация ландшафта функции потерь в системе с 2 кубитами</vt:lpstr>
      <vt:lpstr>Визуализация ландшафта функции потерь в системе с 8 кубитами</vt:lpstr>
      <vt:lpstr>Эксперимент 1. VQC на классическом датасете Iris</vt:lpstr>
      <vt:lpstr>Эксперимент 2. Демонстрация Barren Plateau</vt:lpstr>
      <vt:lpstr>Эксперимент 3. Митигация Barren Plateau</vt:lpstr>
      <vt:lpstr>Влияние функции стоимости на Barren Plateau при использовании HQNN</vt:lpstr>
      <vt:lpstr>Имеющийся литература по Barren Plateau</vt:lpstr>
      <vt:lpstr>Инициализационные методы</vt:lpstr>
      <vt:lpstr>Методы функции стоимости</vt:lpstr>
      <vt:lpstr>Архитектурные методы</vt:lpstr>
      <vt:lpstr>Оптимизационные методы</vt:lpstr>
      <vt:lpstr>Заключение и дальнейшая работа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Азатбекұлы Нұртуган</dc:creator>
  <cp:lastModifiedBy>Азатбекұлы Нұртуған</cp:lastModifiedBy>
  <cp:revision>68</cp:revision>
  <dcterms:created xsi:type="dcterms:W3CDTF">2022-04-12T06:36:18Z</dcterms:created>
  <dcterms:modified xsi:type="dcterms:W3CDTF">2026-05-18T10:30:52Z</dcterms:modified>
</cp:coreProperties>
</file>