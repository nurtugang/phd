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57" r:id="rId4"/>
    <p:sldId id="258" r:id="rId5"/>
    <p:sldId id="259" r:id="rId6"/>
    <p:sldId id="277" r:id="rId7"/>
    <p:sldId id="260" r:id="rId8"/>
    <p:sldId id="261" r:id="rId9"/>
    <p:sldId id="262" r:id="rId10"/>
    <p:sldId id="263" r:id="rId11"/>
    <p:sldId id="273" r:id="rId12"/>
    <p:sldId id="265" r:id="rId13"/>
    <p:sldId id="267" r:id="rId14"/>
    <p:sldId id="269" r:id="rId15"/>
    <p:sldId id="270" r:id="rId16"/>
    <p:sldId id="271" r:id="rId17"/>
    <p:sldId id="274" r:id="rId18"/>
    <p:sldId id="275" r:id="rId19"/>
    <p:sldId id="272" r:id="rId20"/>
  </p:sldIdLst>
  <p:sldSz cx="12192000" cy="6858000"/>
  <p:notesSz cx="6858000" cy="12192000"/>
  <p:embeddedFontLst>
    <p:embeddedFont>
      <p:font typeface="MiSans" panose="020B0604020202020204" charset="-122"/>
      <p:regular r:id="rId22"/>
    </p:embeddedFont>
    <p:embeddedFont>
      <p:font typeface="Arial Black" panose="020B0A04020102020204" pitchFamily="34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26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739CA-894F-7C63-9C6F-1C8FBD5FF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7FE36-F6B4-F67A-9029-77EFA4F28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1C4DF-1800-B430-3B77-C1076E416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C430B-3690-C681-05EF-4A8F2ACF1D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90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6DAF8-13B9-84FD-D528-BB121532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5AD25-1682-87D9-827D-434412973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B13FD-0B26-E81A-2BCA-F5D172A9B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F5A1B-EBF7-278D-4E38-621EF23FF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96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AFA6-1DC5-B8E6-D58A-9B484DE6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2FA80-38D4-FE50-A92A-5E1BA359A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BC95B-B018-845F-250C-3A728B632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4E261-F271-5837-828F-FDD285B49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33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433F-E8E7-8785-C76F-1D28587A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84E6E-5ABD-FF4D-374D-0FD74BE6F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986B0-AEC5-810D-7AB3-5DAA3039B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B534D-E6EA-9F58-1196-982DE6D13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45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F9815-3B93-405B-9642-F674A004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C7A30-C9E8-D95C-9E63-DB17BB7DE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1A430-014B-6A44-6FDB-6B33AA8CA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B77E2-652D-157E-F9BA-39CDFB1F2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35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" y="2074336"/>
            <a:ext cx="1828800" cy="1892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93213" y="2018030"/>
            <a:ext cx="8091091" cy="1913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00000"/>
              </a:lnSpc>
            </a:pPr>
            <a:r>
              <a:rPr lang="ru-RU" sz="3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Оптимизация квантовых вариационных алгоритмов для решения проблемы бесплодных плато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391982" y="4944243"/>
            <a:ext cx="5062148" cy="429260"/>
          </a:xfrm>
          <a:prstGeom prst="roundRect">
            <a:avLst>
              <a:gd name="adj" fmla="val 44740"/>
            </a:avLst>
          </a:prstGeom>
          <a:solidFill>
            <a:srgbClr val="487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22410" y="4891405"/>
            <a:ext cx="2331720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2" descr="https://kimi-img.moonshot.cn/pub/slides/slides_tmpl/image/25-08-27-19:57:29-d2nf5a98bjvh7rlivr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" y="2628265"/>
            <a:ext cx="4368800" cy="3149600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95" y="3435985"/>
            <a:ext cx="4284345" cy="17075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91982" y="4958834"/>
            <a:ext cx="5124145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k-KZ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Докторант: Азатбекұлы Н.</a:t>
            </a:r>
            <a:endParaRPr lang="en-US" sz="12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4D4A000B-F72F-8BB8-6624-E011B3313034}"/>
              </a:ext>
            </a:extLst>
          </p:cNvPr>
          <p:cNvSpPr/>
          <p:nvPr/>
        </p:nvSpPr>
        <p:spPr>
          <a:xfrm>
            <a:off x="4112834" y="4223804"/>
            <a:ext cx="7471470" cy="1318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00000"/>
              </a:lnSpc>
            </a:pPr>
            <a:r>
              <a:rPr lang="ru-RU" sz="2000" b="1" i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Семестровый отчет</a:t>
            </a:r>
            <a:endParaRPr lang="en-US" sz="600" i="1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72766BA-A769-CE01-82FD-C00874AB9E59}"/>
              </a:ext>
            </a:extLst>
          </p:cNvPr>
          <p:cNvSpPr/>
          <p:nvPr/>
        </p:nvSpPr>
        <p:spPr>
          <a:xfrm>
            <a:off x="6362299" y="5527107"/>
            <a:ext cx="5124145" cy="429260"/>
          </a:xfrm>
          <a:prstGeom prst="roundRect">
            <a:avLst>
              <a:gd name="adj" fmla="val 44740"/>
            </a:avLst>
          </a:prstGeom>
          <a:solidFill>
            <a:srgbClr val="4874CB"/>
          </a:solidFill>
          <a:ln/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kk-KZ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Научный руководитель: Дарибаев Б.С.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AFBAC-8E12-6601-C1EC-508E4C7E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AF8936-6118-496E-4C31-800A1CB9F143}"/>
              </a:ext>
            </a:extLst>
          </p:cNvPr>
          <p:cNvSpPr/>
          <p:nvPr/>
        </p:nvSpPr>
        <p:spPr>
          <a:xfrm>
            <a:off x="789939" y="394335"/>
            <a:ext cx="7758225" cy="1416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ru-RU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Оптимизация квантовых вариационных алгоритмов для решения проблемы бесплодных плато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A5E424-4436-778A-9BF8-1172979CB893}"/>
              </a:ext>
            </a:extLst>
          </p:cNvPr>
          <p:cNvSpPr/>
          <p:nvPr/>
        </p:nvSpPr>
        <p:spPr>
          <a:xfrm>
            <a:off x="260985" y="17081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F04699-2774-EC46-20F0-847886CC7BB0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19:57:29-d2nf5a98bjvh7rlivs00.png">
            <a:extLst>
              <a:ext uri="{FF2B5EF4-FFF2-40B4-BE49-F238E27FC236}">
                <a16:creationId xmlns:a16="http://schemas.microsoft.com/office/drawing/2014/main" id="{BD074784-03FA-6D6C-E536-990D5EE3C3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55116" r="-128" b="-2787"/>
          <a:stretch/>
        </p:blipFill>
        <p:spPr>
          <a:xfrm>
            <a:off x="5582039" y="16115"/>
            <a:ext cx="6927215" cy="1857375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E6662037-054A-B07C-E0F6-C2796ACDA2B2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C3C29D8-7F49-A358-396F-EAAB81E94E5C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65CA119-1B44-6FE4-C9A3-BAF206F3B7BB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6D1F53D-3A06-FA54-591F-DA0001537051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4E07A09-0BDC-DB33-2BE8-DB9307D13355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6745075-B234-F8D0-2511-5FB85B10F412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24695DA-6EB3-597E-3272-8D15F7EAF75E}"/>
              </a:ext>
            </a:extLst>
          </p:cNvPr>
          <p:cNvSpPr/>
          <p:nvPr/>
        </p:nvSpPr>
        <p:spPr>
          <a:xfrm>
            <a:off x="992108" y="1398534"/>
            <a:ext cx="4771751" cy="4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E627F30-809D-B253-162C-413CFF9429F6}"/>
              </a:ext>
            </a:extLst>
          </p:cNvPr>
          <p:cNvSpPr/>
          <p:nvPr/>
        </p:nvSpPr>
        <p:spPr>
          <a:xfrm>
            <a:off x="6531602" y="1849081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BCDF61F-F464-FB69-C1C2-392327E1A5F4}"/>
              </a:ext>
            </a:extLst>
          </p:cNvPr>
          <p:cNvSpPr/>
          <p:nvPr/>
        </p:nvSpPr>
        <p:spPr>
          <a:xfrm>
            <a:off x="6531602" y="2325633"/>
            <a:ext cx="4771367" cy="12045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16CAED54-18FD-B0D4-FEDF-11672A28FAA3}"/>
              </a:ext>
            </a:extLst>
          </p:cNvPr>
          <p:cNvSpPr/>
          <p:nvPr/>
        </p:nvSpPr>
        <p:spPr>
          <a:xfrm>
            <a:off x="-3654425" y="6607175"/>
            <a:ext cx="7963535" cy="335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4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46543409-A96E-0D72-599D-8DE14D65823E}"/>
              </a:ext>
            </a:extLst>
          </p:cNvPr>
          <p:cNvSpPr/>
          <p:nvPr/>
        </p:nvSpPr>
        <p:spPr>
          <a:xfrm>
            <a:off x="-3654425" y="6607175"/>
            <a:ext cx="7963535" cy="335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AF1B66-54C4-DDDE-BE64-A52147EA4518}"/>
              </a:ext>
            </a:extLst>
          </p:cNvPr>
          <p:cNvSpPr txBox="1"/>
          <p:nvPr/>
        </p:nvSpPr>
        <p:spPr>
          <a:xfrm>
            <a:off x="889031" y="1835001"/>
            <a:ext cx="104546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Актуальность: </a:t>
            </a:r>
            <a:r>
              <a:rPr lang="ru-RU" sz="2000" dirty="0"/>
              <a:t>Вариационные квантовые алгоритмы — основной инструмент для работы на NISQ-устройствах, но их масштабируемость ограничена эффектом бесплодных плато, при котором градиенты исчезают экспоненциально, что делает обучение невозможным. Требуется разработка методов, повышающих обучаемость квантовых схем.</a:t>
            </a:r>
            <a:endParaRPr lang="en-US" sz="2000" dirty="0"/>
          </a:p>
          <a:p>
            <a:r>
              <a:rPr lang="ru-RU" sz="2000" b="1" dirty="0"/>
              <a:t>Цель: </a:t>
            </a:r>
            <a:r>
              <a:rPr lang="ru-RU" sz="2000" dirty="0"/>
              <a:t>Разработать и оптимизировать методы повышения обучаемости вариационных квантовых алгоритмов и уменьшения эффекта бесплодных плато.</a:t>
            </a:r>
            <a:endParaRPr lang="en-US" sz="2000" dirty="0"/>
          </a:p>
          <a:p>
            <a:r>
              <a:rPr lang="ru-RU" sz="2000" b="1" dirty="0"/>
              <a:t>Задачи: </a:t>
            </a:r>
            <a:endParaRPr lang="en-US" sz="2000" dirty="0"/>
          </a:p>
          <a:p>
            <a:pPr marL="457200" lvl="0" indent="-457200">
              <a:buFont typeface="+mj-lt"/>
              <a:buAutoNum type="arabicPeriod"/>
            </a:pPr>
            <a:r>
              <a:rPr lang="ru-RU" sz="2000" dirty="0"/>
              <a:t>Исследовать причины появления бесплодных плато (БП).</a:t>
            </a:r>
            <a:endParaRPr lang="en-US" sz="2000" dirty="0"/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err="1"/>
              <a:t>Исследовать</a:t>
            </a:r>
            <a:r>
              <a:rPr lang="en-US" sz="2000" dirty="0"/>
              <a:t> </a:t>
            </a:r>
            <a:r>
              <a:rPr lang="en-US" sz="2000" dirty="0" err="1"/>
              <a:t>эффективность</a:t>
            </a:r>
            <a:r>
              <a:rPr lang="en-US" sz="2000" dirty="0"/>
              <a:t> </a:t>
            </a:r>
            <a:r>
              <a:rPr lang="ru-RU" sz="2000" dirty="0"/>
              <a:t>существующих методов митигации БП</a:t>
            </a:r>
            <a:r>
              <a:rPr lang="en-US" sz="2000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000" dirty="0"/>
              <a:t>Разработать теоретическую модель влияния архитектуры и инициализации параметров.</a:t>
            </a:r>
            <a:endParaRPr lang="en-US" sz="2000" dirty="0"/>
          </a:p>
          <a:p>
            <a:pPr marL="457200" lvl="0" indent="-457200">
              <a:buFont typeface="+mj-lt"/>
              <a:buAutoNum type="arabicPeriod"/>
            </a:pPr>
            <a:r>
              <a:rPr lang="ru-RU" sz="2000" dirty="0"/>
              <a:t>Реализовать и протестировать архитектурные методы (</a:t>
            </a:r>
            <a:r>
              <a:rPr lang="en-US" sz="2000" dirty="0"/>
              <a:t>ADAPT</a:t>
            </a:r>
            <a:r>
              <a:rPr lang="ru-RU" sz="2000" dirty="0"/>
              <a:t>-</a:t>
            </a:r>
            <a:r>
              <a:rPr lang="en-US" sz="2000" dirty="0"/>
              <a:t>VQE</a:t>
            </a:r>
            <a:r>
              <a:rPr lang="ru-RU" sz="2000" dirty="0"/>
              <a:t> и др.).</a:t>
            </a:r>
            <a:endParaRPr lang="en-US" sz="2000" dirty="0"/>
          </a:p>
          <a:p>
            <a:pPr marL="457200" lvl="0" indent="-457200">
              <a:buFont typeface="+mj-lt"/>
              <a:buAutoNum type="arabicPeriod"/>
            </a:pPr>
            <a:r>
              <a:rPr lang="ru-RU" sz="2000" dirty="0"/>
              <a:t>Создать гибридный подход и провести сравнение с базовыми методами.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496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0">
          <a:gsLst>
            <a:gs pos="0">
              <a:srgbClr val="94B9FF">
                <a:alpha val="74000"/>
              </a:srgbClr>
            </a:gs>
            <a:gs pos="3000">
              <a:srgbClr val="94B9FF">
                <a:alpha val="74000"/>
              </a:srgbClr>
            </a:gs>
            <a:gs pos="40000">
              <a:srgbClr val="94B9FF">
                <a:alpha val="35000"/>
              </a:srgbClr>
            </a:gs>
            <a:gs pos="63000">
              <a:srgbClr val="94B9FF">
                <a:alpha val="44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-831215" y="0"/>
            <a:ext cx="6771640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76800" y="715645"/>
            <a:ext cx="455993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876800" y="715645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50840" y="855345"/>
            <a:ext cx="4092575" cy="5245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Введение и контекст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81575" y="80454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981575" y="80454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01260" y="84264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61965" y="1957070"/>
            <a:ext cx="1031875" cy="823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81625" y="1899285"/>
            <a:ext cx="455993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81625" y="1899285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55665" y="2038985"/>
            <a:ext cx="4092575" cy="48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Проблема</a:t>
            </a:r>
            <a:r>
              <a:rPr lang="ru-RU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БП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0" y="198818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0" y="198818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5130" y="2019300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20715" y="3102610"/>
            <a:ext cx="455930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20715" y="3102610"/>
            <a:ext cx="4559300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94755" y="3228340"/>
            <a:ext cx="3766185" cy="459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Причины</a:t>
            </a:r>
            <a:r>
              <a:rPr lang="ru-RU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появления БП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25490" y="3191510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25490" y="3191510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24220" y="322262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66385" y="4277995"/>
            <a:ext cx="455993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366385" y="4277995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940425" y="4417695"/>
            <a:ext cx="4092575" cy="5245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</a:t>
            </a:r>
            <a:r>
              <a:rPr lang="ru-RU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 митигации БП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71160" y="4366895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71160" y="436689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90845" y="440499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 rot="13620000">
            <a:off x="1092835" y="1878330"/>
            <a:ext cx="3207385" cy="3219450"/>
          </a:xfrm>
          <a:prstGeom prst="ellipse">
            <a:avLst/>
          </a:prstGeom>
          <a:gradFill flip="none" rotWithShape="1">
            <a:gsLst>
              <a:gs pos="0">
                <a:srgbClr val="6389D3">
                  <a:alpha val="70000"/>
                </a:srgbClr>
              </a:gs>
              <a:gs pos="36000">
                <a:srgbClr val="6389D3">
                  <a:alpha val="65000"/>
                </a:srgbClr>
              </a:gs>
              <a:gs pos="70000">
                <a:srgbClr val="6389D3">
                  <a:alpha val="55000"/>
                </a:srgbClr>
              </a:gs>
              <a:gs pos="91000">
                <a:srgbClr val="6389D3">
                  <a:alpha val="40000"/>
                </a:srgbClr>
              </a:gs>
              <a:gs pos="100000">
                <a:srgbClr val="6389D3">
                  <a:alpha val="4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 rot="13620000">
            <a:off x="1092835" y="1878330"/>
            <a:ext cx="3207385" cy="32194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60705" y="2338705"/>
            <a:ext cx="2174240" cy="9759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57140" y="5547995"/>
            <a:ext cx="1031875" cy="823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876800" y="5490210"/>
            <a:ext cx="455993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76800" y="5490210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450840" y="5629910"/>
            <a:ext cx="4092575" cy="48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Выводы</a:t>
            </a: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981575" y="5579110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981575" y="5579110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980305" y="561022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 rot="14760000">
            <a:off x="1065530" y="5008245"/>
            <a:ext cx="215900" cy="21590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B3CBF9"/>
              </a:gs>
              <a:gs pos="45000">
                <a:srgbClr val="94B9FF"/>
              </a:gs>
              <a:gs pos="66000">
                <a:srgbClr val="94B9FF"/>
              </a:gs>
              <a:gs pos="100000">
                <a:srgbClr val="94B9FF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 rot="14760000">
            <a:off x="1065530" y="500824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0" name="Image 1" descr="https://kimi-img.moonshot.cn/pub/slides/slides_tmpl/image/25-08-27-19:57:29-d2nf5a98bjvh7rlivrsg.png"/>
          <p:cNvPicPr>
            <a:picLocks noChangeAspect="1"/>
          </p:cNvPicPr>
          <p:nvPr/>
        </p:nvPicPr>
        <p:blipFill>
          <a:blip r:embed="rId4">
            <a:alphaModFix amt="37000"/>
          </a:blip>
          <a:srcRect t="65733" r="67587" b="5067"/>
          <a:stretch/>
        </p:blipFill>
        <p:spPr>
          <a:xfrm>
            <a:off x="1031240" y="2090420"/>
            <a:ext cx="589280" cy="556895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 rot="14760000">
            <a:off x="3753485" y="1815465"/>
            <a:ext cx="149225" cy="1492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B3CBF9"/>
              </a:gs>
              <a:gs pos="45000">
                <a:srgbClr val="94B9FF"/>
              </a:gs>
              <a:gs pos="66000">
                <a:srgbClr val="94B9FF"/>
              </a:gs>
              <a:gs pos="100000">
                <a:srgbClr val="94B9FF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 rot="14760000">
            <a:off x="3753485" y="1815465"/>
            <a:ext cx="149225" cy="149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 rot="18060000">
            <a:off x="10944860" y="1118870"/>
            <a:ext cx="219710" cy="21971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B3CBF9">
                  <a:alpha val="81000"/>
                </a:srgbClr>
              </a:gs>
              <a:gs pos="45000">
                <a:srgbClr val="94B9FF">
                  <a:alpha val="80000"/>
                </a:srgbClr>
              </a:gs>
              <a:gs pos="66000">
                <a:srgbClr val="94B9FF">
                  <a:alpha val="94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 rot="18060000">
            <a:off x="10944860" y="1118870"/>
            <a:ext cx="219710" cy="2197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5" name="Image 2" descr="https://kimi-img.moonshot.cn/pub/slides/slides_tmpl/image/25-08-27-19:57:29-d2nf5a98bjvh7rlivrt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615565" y="1830705"/>
            <a:ext cx="724535" cy="3273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Введение и контекст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01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0">
          <a:gsLst>
            <a:gs pos="0">
              <a:srgbClr val="94B9FF">
                <a:alpha val="64000"/>
              </a:srgbClr>
            </a:gs>
            <a:gs pos="8000">
              <a:srgbClr val="94B9FF">
                <a:alpha val="64000"/>
              </a:srgbClr>
            </a:gs>
            <a:gs pos="37000">
              <a:srgbClr val="94B9FF">
                <a:alpha val="6000"/>
              </a:srgbClr>
            </a:gs>
            <a:gs pos="65000">
              <a:srgbClr val="94B9FF">
                <a:alpha val="13000"/>
              </a:srgbClr>
            </a:gs>
            <a:gs pos="98000">
              <a:srgbClr val="94B9FF">
                <a:alpha val="54000"/>
              </a:srgbClr>
            </a:gs>
            <a:gs pos="100000">
              <a:srgbClr val="94B9FF">
                <a:alpha val="54000"/>
              </a:srgbClr>
            </a:gs>
          </a:gsLst>
          <a:lin ang="1746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93865" y="3733721"/>
            <a:ext cx="4930140" cy="2505075"/>
          </a:xfrm>
          <a:prstGeom prst="roundRect">
            <a:avLst>
              <a:gd name="adj" fmla="val 8610"/>
            </a:avLst>
          </a:prstGeom>
          <a:solidFill>
            <a:srgbClr val="FFFFFF">
              <a:alpha val="18039"/>
            </a:srgbClr>
          </a:solidFill>
          <a:ln w="19050">
            <a:gradFill flip="none" rotWithShape="1">
              <a:gsLst>
                <a:gs pos="0">
                  <a:srgbClr val="4874CB">
                    <a:alpha val="39000"/>
                  </a:srgbClr>
                </a:gs>
                <a:gs pos="43000">
                  <a:srgbClr val="F7F9FF"/>
                </a:gs>
                <a:gs pos="76000">
                  <a:srgbClr val="A0B7E5"/>
                </a:gs>
                <a:gs pos="100000">
                  <a:srgbClr val="F7F9FF"/>
                </a:gs>
              </a:gsLst>
              <a:lin ang="0" scaled="1"/>
            </a:gradFill>
            <a:prstDash val="solid"/>
          </a:ln>
          <a:effectLst>
            <a:outerShdw blurRad="63500" dist="26941" dir="2700000" algn="bl" rotWithShape="0">
              <a:srgbClr val="5A7DD4">
                <a:alpha val="2784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93865" y="3733721"/>
            <a:ext cx="4930140" cy="2505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793230" y="1016794"/>
            <a:ext cx="4930775" cy="2505075"/>
          </a:xfrm>
          <a:prstGeom prst="roundRect">
            <a:avLst>
              <a:gd name="adj" fmla="val 8610"/>
            </a:avLst>
          </a:prstGeom>
          <a:solidFill>
            <a:srgbClr val="FFFFFF">
              <a:alpha val="18039"/>
            </a:srgbClr>
          </a:solidFill>
          <a:ln w="19050">
            <a:gradFill flip="none" rotWithShape="1">
              <a:gsLst>
                <a:gs pos="0">
                  <a:srgbClr val="4874CB">
                    <a:alpha val="39000"/>
                  </a:srgbClr>
                </a:gs>
                <a:gs pos="43000">
                  <a:srgbClr val="F7F9FF"/>
                </a:gs>
                <a:gs pos="76000">
                  <a:srgbClr val="A0B7E5"/>
                </a:gs>
                <a:gs pos="100000">
                  <a:srgbClr val="F7F9FF"/>
                </a:gs>
              </a:gsLst>
              <a:lin ang="0" scaled="1"/>
            </a:gradFill>
            <a:prstDash val="solid"/>
          </a:ln>
          <a:effectLst>
            <a:outerShdw blurRad="63500" dist="26941" dir="2700000" algn="bl" rotWithShape="0">
              <a:srgbClr val="5A7DD4">
                <a:alpha val="2784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93230" y="1016794"/>
            <a:ext cx="4930775" cy="2505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rot="16200000">
            <a:off x="2184400" y="4538980"/>
            <a:ext cx="6776085" cy="5041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7000"/>
                </a:srgbClr>
              </a:gs>
              <a:gs pos="95000">
                <a:srgbClr val="6389D3">
                  <a:alpha val="55000"/>
                </a:srgbClr>
              </a:gs>
              <a:gs pos="100000">
                <a:srgbClr val="6389D3">
                  <a:alpha val="5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 rot="16200000">
            <a:off x="2184400" y="453898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VQA в эпоху NISQ-компьютеров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0" descr="https://kimi-img.moonshot.cn/pub/slides/slides_tmpl/image/25-08-27-19:57:29-d2nf5a98bjvh7rlivs00.png"/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11810" y="1342390"/>
            <a:ext cx="4371975" cy="4796790"/>
          </a:xfrm>
          <a:prstGeom prst="roundRect">
            <a:avLst>
              <a:gd name="adj" fmla="val 8610"/>
            </a:avLst>
          </a:prstGeom>
          <a:solidFill>
            <a:srgbClr val="FFFFFF">
              <a:alpha val="18039"/>
            </a:srgbClr>
          </a:solidFill>
          <a:ln w="19050">
            <a:gradFill flip="none" rotWithShape="1">
              <a:gsLst>
                <a:gs pos="0">
                  <a:srgbClr val="4874CB">
                    <a:alpha val="39000"/>
                  </a:srgbClr>
                </a:gs>
                <a:gs pos="43000">
                  <a:srgbClr val="F7F9FF"/>
                </a:gs>
                <a:gs pos="76000">
                  <a:srgbClr val="A0B7E5"/>
                </a:gs>
                <a:gs pos="100000">
                  <a:srgbClr val="F7F9FF"/>
                </a:gs>
              </a:gsLst>
              <a:lin ang="0" scaled="1"/>
            </a:gradFill>
            <a:prstDash val="solid"/>
          </a:ln>
          <a:effectLst>
            <a:outerShdw blurRad="63500" dist="26941" dir="2700000" algn="bl" rotWithShape="0">
              <a:srgbClr val="5A7DD4">
                <a:alpha val="2784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1810" y="1342390"/>
            <a:ext cx="4371975" cy="47967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7510" y="3636010"/>
            <a:ext cx="464121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Особенности NISQ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3270" y="4069715"/>
            <a:ext cx="3881120" cy="16000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эпоху NISQ-компьютеров мы имеем 50–100+ кубитов с короткой когерентностью и отсутствием коррекции ошибок. Это ограничивает глубину квантовых схем и делает их шумными.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57060" y="1251109"/>
            <a:ext cx="3732530" cy="245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Гибридная схема VQA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57060" y="1653064"/>
            <a:ext cx="4660900" cy="19200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VQA представляет собой гибридную схему, где квантовый процессор (QPU) вычисляет функцию стоимости, а классический компьютер (CPU) оптимизирует параметры θ. Это позволяет использовать короткие квантовые схемы, которые укладываются в ограниченную глубину NISQ.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 rot="10800000">
            <a:off x="177800" y="6485890"/>
            <a:ext cx="8467090" cy="6045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7000"/>
                </a:srgbClr>
              </a:gs>
              <a:gs pos="95000">
                <a:srgbClr val="6389D3">
                  <a:alpha val="42000"/>
                </a:srgbClr>
              </a:gs>
              <a:gs pos="100000">
                <a:srgbClr val="6389D3">
                  <a:alpha val="42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 rot="10800000">
            <a:off x="177800" y="6485890"/>
            <a:ext cx="8467090" cy="604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57060" y="3889296"/>
            <a:ext cx="3732530" cy="245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Аналогия с нейросетью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57060" y="4291251"/>
            <a:ext cx="4603750" cy="19200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Принцип VQA аналогичен обучению нейросети: квантовая схема выступает в роли модели, а классический оптимизатор выполняет функцию обратного распространения ошибки. Преимущество VQA — возможность эффективного использования ресурсов NISQ-устройств.</a:t>
            </a:r>
            <a:endParaRPr lang="en-US" sz="1600" dirty="0"/>
          </a:p>
        </p:txBody>
      </p:sp>
      <p:pic>
        <p:nvPicPr>
          <p:cNvPr id="1030" name="Picture 6" descr="Variational Quantum Algorithms: The Practical Beginner's Guide to NISQ Quantum  Computing for AI (2025) | by RAKTIM SINGH | Nov, 2025 | Medium">
            <a:extLst>
              <a:ext uri="{FF2B5EF4-FFF2-40B4-BE49-F238E27FC236}">
                <a16:creationId xmlns:a16="http://schemas.microsoft.com/office/drawing/2014/main" id="{A99109BC-AE01-3AF1-E972-8CAD0C1FA7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5" t="28334" r="7889" b="6931"/>
          <a:stretch>
            <a:fillRect/>
          </a:stretch>
        </p:blipFill>
        <p:spPr bwMode="auto">
          <a:xfrm>
            <a:off x="845344" y="1653064"/>
            <a:ext cx="3587750" cy="184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5956C42-C5FE-0521-75EC-E6B581062F16}"/>
              </a:ext>
            </a:extLst>
          </p:cNvPr>
          <p:cNvSpPr txBox="1"/>
          <p:nvPr/>
        </p:nvSpPr>
        <p:spPr>
          <a:xfrm>
            <a:off x="622147" y="6273928"/>
            <a:ext cx="6253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Image credit: https://medium.com/@raktims2210/variational-quantum-algorithms-the-practical-beginners-guide-to-nisq-quantum-computing-for-ai-81b27500276c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5CED-A9CC-3CE4-D001-CA1B3463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E96DFAD-8DDC-D5E7-CD4B-F72B16130450}"/>
              </a:ext>
            </a:extLst>
          </p:cNvPr>
          <p:cNvSpPr/>
          <p:nvPr/>
        </p:nvSpPr>
        <p:spPr>
          <a:xfrm>
            <a:off x="6793865" y="3733721"/>
            <a:ext cx="4930140" cy="2505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92B885-B5A2-F501-224D-E963C254B87C}"/>
              </a:ext>
            </a:extLst>
          </p:cNvPr>
          <p:cNvSpPr/>
          <p:nvPr/>
        </p:nvSpPr>
        <p:spPr>
          <a:xfrm>
            <a:off x="6793230" y="1016794"/>
            <a:ext cx="4930775" cy="5059541"/>
          </a:xfrm>
          <a:prstGeom prst="roundRect">
            <a:avLst>
              <a:gd name="adj" fmla="val 8610"/>
            </a:avLst>
          </a:prstGeom>
          <a:solidFill>
            <a:srgbClr val="FFFFFF">
              <a:alpha val="18039"/>
            </a:srgbClr>
          </a:solidFill>
          <a:ln w="19050">
            <a:gradFill flip="none" rotWithShape="1">
              <a:gsLst>
                <a:gs pos="0">
                  <a:srgbClr val="4874CB">
                    <a:alpha val="39000"/>
                  </a:srgbClr>
                </a:gs>
                <a:gs pos="43000">
                  <a:srgbClr val="F7F9FF"/>
                </a:gs>
                <a:gs pos="76000">
                  <a:srgbClr val="A0B7E5"/>
                </a:gs>
                <a:gs pos="100000">
                  <a:srgbClr val="F7F9FF"/>
                </a:gs>
              </a:gsLst>
              <a:lin ang="0" scaled="1"/>
            </a:gradFill>
            <a:prstDash val="solid"/>
          </a:ln>
          <a:effectLst>
            <a:outerShdw blurRad="63500" dist="26941" dir="2700000" algn="bl" rotWithShape="0">
              <a:srgbClr val="5A7DD4">
                <a:alpha val="27843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1C24C6-34F3-8973-E4AB-DC0C8B8646CD}"/>
              </a:ext>
            </a:extLst>
          </p:cNvPr>
          <p:cNvSpPr/>
          <p:nvPr/>
        </p:nvSpPr>
        <p:spPr>
          <a:xfrm>
            <a:off x="6793230" y="1016794"/>
            <a:ext cx="4930775" cy="2505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F2D8A36-052D-D301-2443-DD14498E23B2}"/>
              </a:ext>
            </a:extLst>
          </p:cNvPr>
          <p:cNvSpPr/>
          <p:nvPr/>
        </p:nvSpPr>
        <p:spPr>
          <a:xfrm rot="16200000">
            <a:off x="2184400" y="4538980"/>
            <a:ext cx="6776085" cy="5041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7000"/>
                </a:srgbClr>
              </a:gs>
              <a:gs pos="95000">
                <a:srgbClr val="6389D3">
                  <a:alpha val="55000"/>
                </a:srgbClr>
              </a:gs>
              <a:gs pos="100000">
                <a:srgbClr val="6389D3">
                  <a:alpha val="5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950FD4-FD62-BF2E-73FC-1F0288F4DF98}"/>
              </a:ext>
            </a:extLst>
          </p:cNvPr>
          <p:cNvSpPr/>
          <p:nvPr/>
        </p:nvSpPr>
        <p:spPr>
          <a:xfrm rot="16200000">
            <a:off x="2184400" y="4538980"/>
            <a:ext cx="6776085" cy="504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2B101B-F07A-93DD-BF1F-F37A13EECDCD}"/>
              </a:ext>
            </a:extLst>
          </p:cNvPr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VQA в эпоху NISQ-компьютеров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BF8673D-2716-C000-55E2-37E1AE3202BF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8C2FD5-D8C9-CF41-6A35-C257E8B23149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1CEADF5-3DC9-B008-7838-B4984679AAB8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58E27A-BAC7-BAF6-0DE5-0E97902C7377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E6268B9-F447-0FFA-7921-6CE95C0AB86F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62F5E8-B7A4-5913-63FC-3A89086B8250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B9CB3C7-FF04-44FC-1A43-53DD4761002E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722DE1B-8EDE-AB93-6A31-3387B957DC37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0" descr="https://kimi-img.moonshot.cn/pub/slides/slides_tmpl/image/25-08-27-19:57:29-d2nf5a98bjvh7rlivs00.png">
            <a:extLst>
              <a:ext uri="{FF2B5EF4-FFF2-40B4-BE49-F238E27FC236}">
                <a16:creationId xmlns:a16="http://schemas.microsoft.com/office/drawing/2014/main" id="{79644704-558E-8C91-5A53-6C46452946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49493" r="-128" b="-2787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F79F5100-E725-328D-5B97-A2B36FAA7BFD}"/>
              </a:ext>
            </a:extLst>
          </p:cNvPr>
          <p:cNvSpPr/>
          <p:nvPr/>
        </p:nvSpPr>
        <p:spPr>
          <a:xfrm>
            <a:off x="511810" y="1342390"/>
            <a:ext cx="4371975" cy="4796790"/>
          </a:xfrm>
          <a:prstGeom prst="roundRect">
            <a:avLst>
              <a:gd name="adj" fmla="val 8610"/>
            </a:avLst>
          </a:prstGeom>
          <a:solidFill>
            <a:srgbClr val="FFFFFF">
              <a:alpha val="18039"/>
            </a:srgbClr>
          </a:solidFill>
          <a:ln w="19050">
            <a:gradFill flip="none" rotWithShape="1">
              <a:gsLst>
                <a:gs pos="0">
                  <a:srgbClr val="4874CB">
                    <a:alpha val="39000"/>
                  </a:srgbClr>
                </a:gs>
                <a:gs pos="43000">
                  <a:srgbClr val="F7F9FF"/>
                </a:gs>
                <a:gs pos="76000">
                  <a:srgbClr val="A0B7E5"/>
                </a:gs>
                <a:gs pos="100000">
                  <a:srgbClr val="F7F9FF"/>
                </a:gs>
              </a:gsLst>
              <a:lin ang="0" scaled="1"/>
            </a:gradFill>
            <a:prstDash val="solid"/>
          </a:ln>
          <a:effectLst>
            <a:outerShdw blurRad="63500" dist="26941" dir="2700000" algn="bl" rotWithShape="0">
              <a:srgbClr val="5A7DD4">
                <a:alpha val="27843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32745BD-4A58-C17C-A631-C98A656CF1F5}"/>
              </a:ext>
            </a:extLst>
          </p:cNvPr>
          <p:cNvSpPr/>
          <p:nvPr/>
        </p:nvSpPr>
        <p:spPr>
          <a:xfrm>
            <a:off x="511810" y="1342390"/>
            <a:ext cx="4371975" cy="47967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4A66920-92B3-EFC5-8644-989512AF4F59}"/>
              </a:ext>
            </a:extLst>
          </p:cNvPr>
          <p:cNvSpPr/>
          <p:nvPr/>
        </p:nvSpPr>
        <p:spPr>
          <a:xfrm>
            <a:off x="397510" y="3636010"/>
            <a:ext cx="464121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7661750-4A5A-A4FC-67DE-EF6B621A781F}"/>
              </a:ext>
            </a:extLst>
          </p:cNvPr>
          <p:cNvSpPr/>
          <p:nvPr/>
        </p:nvSpPr>
        <p:spPr>
          <a:xfrm>
            <a:off x="763270" y="4069715"/>
            <a:ext cx="3881120" cy="4234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18CB516-6042-B153-38F8-2C815D8E6341}"/>
              </a:ext>
            </a:extLst>
          </p:cNvPr>
          <p:cNvSpPr/>
          <p:nvPr/>
        </p:nvSpPr>
        <p:spPr>
          <a:xfrm>
            <a:off x="6957060" y="1251109"/>
            <a:ext cx="3732530" cy="245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Гибридная схема VQA</a:t>
            </a:r>
            <a:endParaRPr lang="en-US" sz="16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7A0209F-8B8B-E61A-5727-AEB8A4FC3DB3}"/>
              </a:ext>
            </a:extLst>
          </p:cNvPr>
          <p:cNvSpPr/>
          <p:nvPr/>
        </p:nvSpPr>
        <p:spPr>
          <a:xfrm>
            <a:off x="6922755" y="1975753"/>
            <a:ext cx="4660900" cy="37856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Problem Graph (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Гамильтониан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):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Постановка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задачи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—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разделение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«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врагов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»</a:t>
            </a:r>
            <a:r>
              <a:rPr lang="ru-RU" altLang="en-US" sz="160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>
                <a:latin typeface="Arial" panose="020B0604020202020204" pitchFamily="34" charset="0"/>
                <a:ea typeface="Google Sans Text"/>
              </a:rPr>
              <a:t>по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разным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группам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.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Каждое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нарушение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правила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создает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штраф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в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Гамильтониане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Ansatz (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Квантовая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схема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):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Параметризованная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последовательность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гейтов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.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Углы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поворота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theta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определяют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текущее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квантовое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состояние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системы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Measurement (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Измерение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):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Перевод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квантового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состояния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в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классическую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битовую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строку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(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решение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Classical Optimizer (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Обучение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):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Итеративная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минимизация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функции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стоимости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(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энергии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).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Если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ландшафт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обучаем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,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мы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видим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четкий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спуск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графика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ea typeface="Google Sans Text"/>
              </a:rPr>
              <a:t>вниз</a:t>
            </a:r>
            <a:r>
              <a:rPr lang="en-US" altLang="en-US" sz="1600" dirty="0">
                <a:latin typeface="Arial" panose="020B0604020202020204" pitchFamily="34" charset="0"/>
                <a:ea typeface="Google Sans Text"/>
              </a:rPr>
              <a:t>.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4C9B2A6-C083-344E-4CC8-05CE67C3ED6D}"/>
              </a:ext>
            </a:extLst>
          </p:cNvPr>
          <p:cNvSpPr/>
          <p:nvPr/>
        </p:nvSpPr>
        <p:spPr>
          <a:xfrm rot="10800000">
            <a:off x="177800" y="6485890"/>
            <a:ext cx="8467090" cy="6045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7000"/>
                </a:srgbClr>
              </a:gs>
              <a:gs pos="95000">
                <a:srgbClr val="6389D3">
                  <a:alpha val="42000"/>
                </a:srgbClr>
              </a:gs>
              <a:gs pos="100000">
                <a:srgbClr val="6389D3">
                  <a:alpha val="42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54D435E-3506-E176-C78F-DA1AE577FEA3}"/>
              </a:ext>
            </a:extLst>
          </p:cNvPr>
          <p:cNvSpPr/>
          <p:nvPr/>
        </p:nvSpPr>
        <p:spPr>
          <a:xfrm rot="10800000">
            <a:off x="177800" y="6485890"/>
            <a:ext cx="8467090" cy="604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EBB0E4-8B79-62E5-65E5-B940A0A6B3FD}"/>
              </a:ext>
            </a:extLst>
          </p:cNvPr>
          <p:cNvSpPr txBox="1"/>
          <p:nvPr/>
        </p:nvSpPr>
        <p:spPr>
          <a:xfrm>
            <a:off x="622147" y="6273928"/>
            <a:ext cx="6253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Image credit: Google Gemini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15E6F93-1E6A-5037-B8C3-D316FADF44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440"/>
          <a:stretch>
            <a:fillRect/>
          </a:stretch>
        </p:blipFill>
        <p:spPr>
          <a:xfrm>
            <a:off x="715978" y="1857533"/>
            <a:ext cx="4038108" cy="357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6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02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0">
          <a:gsLst>
            <a:gs pos="0">
              <a:srgbClr val="94B9FF">
                <a:alpha val="39000"/>
              </a:srgbClr>
            </a:gs>
            <a:gs pos="9000">
              <a:srgbClr val="94B9FF">
                <a:alpha val="39000"/>
              </a:srgbClr>
            </a:gs>
            <a:gs pos="38000">
              <a:srgbClr val="94B9FF">
                <a:alpha val="44000"/>
              </a:srgbClr>
            </a:gs>
            <a:gs pos="72000">
              <a:srgbClr val="94B9FF">
                <a:alpha val="13000"/>
              </a:srgbClr>
            </a:gs>
            <a:gs pos="100000">
              <a:srgbClr val="94B9FF">
                <a:alpha val="59000"/>
              </a:srgbClr>
            </a:gs>
          </a:gsLst>
          <a:lin ang="3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s00.png"/>
          <p:cNvPicPr>
            <a:picLocks noChangeAspect="1"/>
          </p:cNvPicPr>
          <p:nvPr/>
        </p:nvPicPr>
        <p:blipFill>
          <a:blip r:embed="rId3">
            <a:alphaModFix amt="74000"/>
          </a:blip>
          <a:srcRect t="41588"/>
          <a:stretch/>
        </p:blipFill>
        <p:spPr>
          <a:xfrm>
            <a:off x="448310" y="0"/>
            <a:ext cx="7380605" cy="24250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35" y="1473835"/>
            <a:ext cx="12192635" cy="1571625"/>
          </a:xfrm>
          <a:prstGeom prst="rect">
            <a:avLst/>
          </a:prstGeom>
          <a:gradFill flip="none" rotWithShape="1">
            <a:gsLst>
              <a:gs pos="0">
                <a:srgbClr val="92ABDF">
                  <a:alpha val="82000"/>
                </a:srgbClr>
              </a:gs>
              <a:gs pos="42000">
                <a:srgbClr val="92ABDF">
                  <a:alpha val="82000"/>
                </a:srgbClr>
              </a:gs>
              <a:gs pos="100000">
                <a:srgbClr val="4874CB">
                  <a:alpha val="73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-635" y="1473835"/>
            <a:ext cx="12192635" cy="1571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97470" y="1614805"/>
            <a:ext cx="3957955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Феномен бесплодных плато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38375" y="3776772"/>
            <a:ext cx="4964861" cy="4788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38375" y="3776772"/>
            <a:ext cx="4964861" cy="478893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A7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Следствия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38375" y="4472222"/>
            <a:ext cx="4964861" cy="1867936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результате классический оптимизатор не видит направления спуска, и требуется экспоненциальное число измерений (shots) для обучения. Это является фундаментальным барьером масштабируемости квантового машинного обучения.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5269" y="4463967"/>
            <a:ext cx="4964861" cy="1867301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Бесплодное плато — это экспоненциальное исчезновение градиента функции </a:t>
            </a:r>
            <a:r>
              <a:rPr lang="en-US" sz="14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стоимости</a:t>
            </a: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</a:t>
            </a: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росте числа кубитов. Это приводит к плоскому ландшафту оптимизации, где оптимизатор теряет направление спуска.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5269" y="3776772"/>
            <a:ext cx="4964861" cy="4788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5269" y="3776772"/>
            <a:ext cx="4964861" cy="478893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A7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и математика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87428" y="3540443"/>
            <a:ext cx="0" cy="2532924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874CB">
                    <a:alpha val="0"/>
                  </a:srgbClr>
                </a:gs>
                <a:gs pos="10000">
                  <a:srgbClr val="4874CB">
                    <a:alpha val="0"/>
                  </a:srgbClr>
                </a:gs>
                <a:gs pos="50000">
                  <a:srgbClr val="4874CB">
                    <a:alpha val="50000"/>
                  </a:srgbClr>
                </a:gs>
                <a:gs pos="90000">
                  <a:srgbClr val="4874CB">
                    <a:alpha val="0"/>
                  </a:srgbClr>
                </a:gs>
                <a:gs pos="100000">
                  <a:srgbClr val="4874CB">
                    <a:alpha val="0"/>
                  </a:srgbClr>
                </a:gs>
              </a:gsLst>
              <a:lin ang="162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5785" y="44513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61000"/>
                </a:srgbClr>
              </a:gs>
              <a:gs pos="20000">
                <a:srgbClr val="4874CB">
                  <a:alpha val="61000"/>
                </a:srgbClr>
              </a:gs>
              <a:gs pos="43000">
                <a:srgbClr val="4874CB">
                  <a:alpha val="66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57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95985" y="44513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>
                    <a:alpha val="91000"/>
                  </a:srgbClr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959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0885" y="44513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66000"/>
                </a:srgbClr>
              </a:gs>
              <a:gs pos="20000">
                <a:srgbClr val="4874CB">
                  <a:alpha val="66000"/>
                </a:srgbClr>
              </a:gs>
              <a:gs pos="43000">
                <a:srgbClr val="4874CB">
                  <a:alpha val="59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08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050" name="Picture 2" descr="Solving 'barren plateaus' is the key to quantum machine learning">
            <a:extLst>
              <a:ext uri="{FF2B5EF4-FFF2-40B4-BE49-F238E27FC236}">
                <a16:creationId xmlns:a16="http://schemas.microsoft.com/office/drawing/2014/main" id="{144E682F-21B9-1A00-1B98-7E91B0CC8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605" y="773723"/>
            <a:ext cx="4846027" cy="283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E6FC9B2-7160-69A5-6C9D-1F789212DE93}"/>
              </a:ext>
            </a:extLst>
          </p:cNvPr>
          <p:cNvSpPr txBox="1"/>
          <p:nvPr/>
        </p:nvSpPr>
        <p:spPr>
          <a:xfrm>
            <a:off x="565785" y="6151255"/>
            <a:ext cx="51112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Image credit: https://phys.org/news/2021-03-barren-plateaus-key-quantum-machine.html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Причины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03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0">
          <a:gsLst>
            <a:gs pos="0">
              <a:srgbClr val="94B9FF">
                <a:alpha val="51000"/>
              </a:srgbClr>
            </a:gs>
            <a:gs pos="8000">
              <a:srgbClr val="94B9FF">
                <a:alpha val="51000"/>
              </a:srgbClr>
            </a:gs>
            <a:gs pos="37000">
              <a:srgbClr val="94B9FF">
                <a:alpha val="22000"/>
              </a:srgbClr>
            </a:gs>
            <a:gs pos="65000">
              <a:srgbClr val="94B9FF">
                <a:alpha val="18000"/>
              </a:srgbClr>
            </a:gs>
            <a:gs pos="98000">
              <a:srgbClr val="94B9FF">
                <a:alpha val="54000"/>
              </a:srgbClr>
            </a:gs>
            <a:gs pos="100000">
              <a:srgbClr val="94B9FF">
                <a:alpha val="54000"/>
              </a:srgbClr>
            </a:gs>
          </a:gsLst>
          <a:lin ang="1746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39" y="394335"/>
            <a:ext cx="7758225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Таксономия </a:t>
            </a:r>
            <a:r>
              <a:rPr lang="en-US" sz="28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источников</a:t>
            </a: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ru-RU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бесплодных </a:t>
            </a:r>
            <a:r>
              <a:rPr lang="en-US" sz="28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плато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0985" y="17081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19:57:29-d2nf5a98bjvh7rlivs00.png"/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55116" r="-128" b="-2787"/>
          <a:stretch/>
        </p:blipFill>
        <p:spPr>
          <a:xfrm>
            <a:off x="5582285" y="0"/>
            <a:ext cx="6927215" cy="18573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3049" y="1326083"/>
            <a:ext cx="4770337" cy="4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B5C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23049" y="1849081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23049" y="1905071"/>
            <a:ext cx="4770847" cy="368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Выразительность анзаца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89031" y="2325633"/>
            <a:ext cx="4770337" cy="12045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23049" y="2325633"/>
            <a:ext cx="4770337" cy="120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выразительность </a:t>
            </a:r>
            <a:r>
              <a:rPr lang="en-US" sz="14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анзаца</a:t>
            </a: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приводит</a:t>
            </a: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 чрезмерной случайности, что затрудняет обучение и способствует возникновению бесплодных плато.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22413" y="3917734"/>
            <a:ext cx="4771483" cy="4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B5C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22413" y="4440732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22413" y="4496086"/>
            <a:ext cx="4772338" cy="368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Запутанность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22413" y="4926192"/>
            <a:ext cx="4771751" cy="12045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22413" y="4926192"/>
            <a:ext cx="4771751" cy="120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объёма запутанности (Volume Law) приводит к стиранию локальной информации, что затрудняет обучение и способствует возникновению бесплодных плато.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31602" y="1326083"/>
            <a:ext cx="4771751" cy="4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B5C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31602" y="1849081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31602" y="1905071"/>
            <a:ext cx="4772965" cy="368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Глобальные функции стоимости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31602" y="2325633"/>
            <a:ext cx="4771367" cy="12045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31602" y="2325633"/>
            <a:ext cx="4771367" cy="120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глобальных функций стоимости, измеряющих состояние всех кубитов одновременно, размывает сигнал и увеличивает вероятность возникновения плато.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531602" y="3917734"/>
            <a:ext cx="4771483" cy="4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B5C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531602" y="4440732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31602" y="4496086"/>
            <a:ext cx="4771750" cy="368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Шум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531602" y="4926192"/>
            <a:ext cx="4771751" cy="12045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531602" y="4926192"/>
            <a:ext cx="4771751" cy="1204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Аппаратный шум сглаживает ландшафт функции стоимости до состояния максимальной энтропии, что затрудняет обучение и способствует возникновению бесплодных плато.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-3654425" y="6607175"/>
            <a:ext cx="7963535" cy="335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4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-3654425" y="6607175"/>
            <a:ext cx="7963535" cy="335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ED24C-03AC-630F-3EFB-2819C5A5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>
            <a:extLst>
              <a:ext uri="{FF2B5EF4-FFF2-40B4-BE49-F238E27FC236}">
                <a16:creationId xmlns:a16="http://schemas.microsoft.com/office/drawing/2014/main" id="{C275066C-046C-F448-FF53-BAAEA463FA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>
            <a:extLst>
              <a:ext uri="{FF2B5EF4-FFF2-40B4-BE49-F238E27FC236}">
                <a16:creationId xmlns:a16="http://schemas.microsoft.com/office/drawing/2014/main" id="{81D8975F-7038-5D8E-112D-05F16C089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3A2FB71-713B-B185-6BE1-30FAA212DC39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5017E41-5DFA-ED02-69DF-D1F5480682A0}"/>
              </a:ext>
            </a:extLst>
          </p:cNvPr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0C4077C-2D77-5A67-59EB-3E53D0BC52A0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D90EE5A-27CC-392A-9C23-87C3F7C8F782}"/>
              </a:ext>
            </a:extLst>
          </p:cNvPr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F6E7FCC-26B7-E502-03CF-451D6A14A8B9}"/>
              </a:ext>
            </a:extLst>
          </p:cNvPr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r>
              <a:rPr lang="ru-RU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D8BE0D7-9069-ABD7-D02D-318AC6D2D842}"/>
              </a:ext>
            </a:extLst>
          </p:cNvPr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Решения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1065474-B3BE-2BE2-AF2C-3A2A4D495627}"/>
              </a:ext>
            </a:extLst>
          </p:cNvPr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</a:t>
            </a:r>
            <a:r>
              <a:rPr lang="ru-RU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8-27-19:57:29-d2nf5a98bjvh7rlivrs0.png">
            <a:extLst>
              <a:ext uri="{FF2B5EF4-FFF2-40B4-BE49-F238E27FC236}">
                <a16:creationId xmlns:a16="http://schemas.microsoft.com/office/drawing/2014/main" id="{228CF1AA-C667-1BFB-1311-4CFE601CC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F314D584-8DF8-093B-A74B-D29B7CF96E4E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E4CBBFD-6E80-A647-C222-DF8564EDBE00}"/>
              </a:ext>
            </a:extLst>
          </p:cNvPr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48A9D733-478D-A3A5-3F8C-F081686C978B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1EABE9C-0656-F24C-B324-2AD4EB9E8A75}"/>
              </a:ext>
            </a:extLst>
          </p:cNvPr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38961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0">
          <a:gsLst>
            <a:gs pos="0">
              <a:srgbClr val="94B9FF">
                <a:alpha val="25000"/>
              </a:srgbClr>
            </a:gs>
            <a:gs pos="33000">
              <a:srgbClr val="94B9FF">
                <a:alpha val="21000"/>
              </a:srgbClr>
            </a:gs>
            <a:gs pos="64000">
              <a:srgbClr val="94B9FF">
                <a:alpha val="0"/>
              </a:srgbClr>
            </a:gs>
            <a:gs pos="94000">
              <a:srgbClr val="94B9FF">
                <a:alpha val="42000"/>
              </a:srgbClr>
            </a:gs>
            <a:gs pos="100000">
              <a:srgbClr val="94B9FF">
                <a:alpha val="42000"/>
              </a:srgbClr>
            </a:gs>
          </a:gsLst>
          <a:lin ang="918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0-d2nf5ah8bjvh7rlivs1g.png"/>
          <p:cNvPicPr>
            <a:picLocks noChangeAspect="1"/>
          </p:cNvPicPr>
          <p:nvPr/>
        </p:nvPicPr>
        <p:blipFill>
          <a:blip r:embed="rId3"/>
          <a:srcRect l="25401" t="16194" r="42943" b="26759"/>
          <a:stretch/>
        </p:blipFill>
        <p:spPr>
          <a:xfrm>
            <a:off x="5551170" y="485775"/>
            <a:ext cx="3859530" cy="3912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38225" y="2731135"/>
            <a:ext cx="6297295" cy="3357245"/>
          </a:xfrm>
          <a:prstGeom prst="roundRect">
            <a:avLst>
              <a:gd name="adj" fmla="val 5103"/>
            </a:avLst>
          </a:prstGeom>
          <a:solidFill>
            <a:srgbClr val="7A9EDA">
              <a:alpha val="3686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38225" y="2731135"/>
            <a:ext cx="6297295" cy="33572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rot="180000">
            <a:off x="10494010" y="3420745"/>
            <a:ext cx="3592195" cy="3636645"/>
          </a:xfrm>
          <a:prstGeom prst="triangle">
            <a:avLst>
              <a:gd name="adj" fmla="val 49448"/>
            </a:avLst>
          </a:prstGeom>
          <a:gradFill flip="none" rotWithShape="1">
            <a:gsLst>
              <a:gs pos="0">
                <a:srgbClr val="D1DCF2">
                  <a:alpha val="43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87000"/>
                </a:srgbClr>
              </a:gs>
              <a:gs pos="81000">
                <a:srgbClr val="6389D3">
                  <a:alpha val="85000"/>
                </a:srgbClr>
              </a:gs>
              <a:gs pos="100000">
                <a:srgbClr val="6389D3">
                  <a:alpha val="8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 rot="180000">
            <a:off x="10494010" y="3420745"/>
            <a:ext cx="3592195" cy="36366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740000">
            <a:off x="10205720" y="-1022985"/>
            <a:ext cx="2437130" cy="58534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94000"/>
                </a:srgbClr>
              </a:gs>
              <a:gs pos="55000">
                <a:srgbClr val="6389D3">
                  <a:alpha val="62000"/>
                </a:srgbClr>
              </a:gs>
              <a:gs pos="82000">
                <a:srgbClr val="6389D3">
                  <a:alpha val="77000"/>
                </a:srgbClr>
              </a:gs>
              <a:gs pos="100000">
                <a:srgbClr val="6389D3">
                  <a:alpha val="92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 rot="1740000">
            <a:off x="10205720" y="-1022985"/>
            <a:ext cx="2437130" cy="58534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800000">
            <a:off x="7485380" y="4394835"/>
            <a:ext cx="2471420" cy="45929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389D3">
                  <a:alpha val="83000"/>
                </a:srgbClr>
              </a:gs>
              <a:gs pos="4000">
                <a:srgbClr val="6389D3">
                  <a:alpha val="83000"/>
                </a:srgbClr>
              </a:gs>
              <a:gs pos="31000">
                <a:srgbClr val="6389D3">
                  <a:alpha val="57000"/>
                </a:srgbClr>
              </a:gs>
              <a:gs pos="63000">
                <a:srgbClr val="6389D3">
                  <a:alpha val="35000"/>
                </a:srgbClr>
              </a:gs>
              <a:gs pos="100000">
                <a:srgbClr val="D1DCF2">
                  <a:alpha val="43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 rot="1800000">
            <a:off x="7485380" y="4394835"/>
            <a:ext cx="2471420" cy="4592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3111" y="2218690"/>
            <a:ext cx="5067554" cy="3683000"/>
          </a:xfrm>
          <a:prstGeom prst="roundRect">
            <a:avLst>
              <a:gd name="adj" fmla="val 5103"/>
            </a:avLst>
          </a:prstGeom>
          <a:gradFill flip="none" rotWithShape="1">
            <a:gsLst>
              <a:gs pos="0">
                <a:srgbClr val="F6F8FD"/>
              </a:gs>
              <a:gs pos="100000">
                <a:srgbClr val="FFFFFF">
                  <a:alpha val="83000"/>
                </a:srgbClr>
              </a:gs>
            </a:gsLst>
            <a:lin ang="5400000" scaled="1"/>
          </a:gradFill>
          <a:ln/>
          <a:effectLst>
            <a:outerShdw blurRad="152400" dist="26941" dir="2700000" algn="bl" rotWithShape="0">
              <a:srgbClr val="000000">
                <a:alpha val="32941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3110" y="2218690"/>
            <a:ext cx="6867525" cy="3683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9940" y="48577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Локальные функции стоимости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0985" y="25463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0985" y="25463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0105" y="12706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Локальные операторы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02055" y="2731135"/>
            <a:ext cx="4178157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Использование локальных </a:t>
            </a:r>
            <a:r>
              <a:rPr lang="en-US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операторов</a:t>
            </a:r>
            <a:r>
              <a:rPr 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вместо</a:t>
            </a:r>
            <a:r>
              <a:rPr 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глобальных</a:t>
            </a:r>
            <a:r>
              <a:rPr 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позволяет</a:t>
            </a:r>
            <a:r>
              <a:rPr 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создать обучаемый ландшафт с полиномиально убывающим градиентом. Это обеспечивает возможность обучения даже на </a:t>
            </a:r>
            <a:r>
              <a:rPr lang="en-US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глубоких</a:t>
            </a:r>
            <a:r>
              <a:rPr 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схемах</a:t>
            </a:r>
            <a:r>
              <a:rPr lang="ru-RU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 flipV="1">
            <a:off x="5986780" y="1921510"/>
            <a:ext cx="4784471" cy="234950"/>
          </a:xfrm>
          <a:custGeom>
            <a:avLst/>
            <a:gdLst/>
            <a:ahLst/>
            <a:cxnLst/>
            <a:rect l="l" t="t" r="r" b="b"/>
            <a:pathLst>
              <a:path w="4784471" h="234950">
                <a:moveTo>
                  <a:pt x="0" y="0"/>
                </a:moveTo>
                <a:lnTo>
                  <a:pt x="270574" y="229870"/>
                </a:lnTo>
                <a:lnTo>
                  <a:pt x="4784471" y="234950"/>
                </a:lnTo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>
                    <a:alpha val="5000"/>
                  </a:srgbClr>
                </a:gs>
                <a:gs pos="100000">
                  <a:srgbClr val="4874CB"/>
                </a:gs>
              </a:gsLst>
              <a:lin ang="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86780" y="1921510"/>
            <a:ext cx="4784471" cy="2349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 flipH="1">
            <a:off x="1083933" y="1939290"/>
            <a:ext cx="62440" cy="45720"/>
          </a:xfrm>
          <a:prstGeom prst="parallelogram">
            <a:avLst>
              <a:gd name="adj" fmla="val 25000"/>
            </a:avLst>
          </a:prstGeom>
          <a:solidFill>
            <a:srgbClr val="487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83933" y="1939290"/>
            <a:ext cx="62440" cy="45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 flipH="1">
            <a:off x="1039705" y="1939290"/>
            <a:ext cx="62440" cy="45720"/>
          </a:xfrm>
          <a:prstGeom prst="parallelogram">
            <a:avLst>
              <a:gd name="adj" fmla="val 25000"/>
            </a:avLst>
          </a:prstGeom>
          <a:solidFill>
            <a:srgbClr val="4874CB">
              <a:alpha val="6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39705" y="1939290"/>
            <a:ext cx="62440" cy="45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074" name="Picture 2" descr="Comparison of local CL and global CG cost performance. Here we consider...  | Download Scientific Diagram">
            <a:extLst>
              <a:ext uri="{FF2B5EF4-FFF2-40B4-BE49-F238E27FC236}">
                <a16:creationId xmlns:a16="http://schemas.microsoft.com/office/drawing/2014/main" id="{EF5A0D68-0018-0803-8634-52F95EB4E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881" y="2226414"/>
            <a:ext cx="4743693" cy="295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5BDB6F0-0677-004D-1320-BD0333B97CB7}"/>
              </a:ext>
            </a:extLst>
          </p:cNvPr>
          <p:cNvSpPr txBox="1"/>
          <p:nvPr/>
        </p:nvSpPr>
        <p:spPr>
          <a:xfrm>
            <a:off x="5820665" y="5933079"/>
            <a:ext cx="7091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Image credit: https://www.researchgate.net/figure/Comparison-of-local-CL-and-global-CG-cost-performance-Here-we-consider-the-QLSP-of-Eq_fig3_335788304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0">
          <a:gsLst>
            <a:gs pos="0">
              <a:srgbClr val="94B9FF">
                <a:alpha val="54000"/>
              </a:srgbClr>
            </a:gs>
            <a:gs pos="12000">
              <a:srgbClr val="94B9FF">
                <a:alpha val="54000"/>
              </a:srgbClr>
            </a:gs>
            <a:gs pos="40000">
              <a:srgbClr val="94B9FF">
                <a:alpha val="35000"/>
              </a:srgbClr>
            </a:gs>
            <a:gs pos="68000">
              <a:srgbClr val="94B9FF">
                <a:alpha val="24000"/>
              </a:srgbClr>
            </a:gs>
            <a:gs pos="98000">
              <a:srgbClr val="94B9FF">
                <a:alpha val="40000"/>
              </a:srgbClr>
            </a:gs>
            <a:gs pos="100000">
              <a:srgbClr val="94B9FF">
                <a:alpha val="40000"/>
              </a:srgbClr>
            </a:gs>
          </a:gsLst>
          <a:lin ang="17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3555" y="3703320"/>
            <a:ext cx="3856355" cy="258762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3555" y="3703320"/>
            <a:ext cx="3856355" cy="2587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28615" y="667385"/>
            <a:ext cx="634365" cy="634365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DAE3F5"/>
              </a:gs>
              <a:gs pos="2000">
                <a:srgbClr val="DAE3F5"/>
              </a:gs>
              <a:gs pos="8000">
                <a:srgbClr val="91ACE0"/>
              </a:gs>
              <a:gs pos="55000">
                <a:srgbClr val="4874CB">
                  <a:alpha val="68000"/>
                </a:srgbClr>
              </a:gs>
              <a:gs pos="100000">
                <a:srgbClr val="345FB6">
                  <a:alpha val="2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28615" y="667385"/>
            <a:ext cx="634365" cy="634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Физичные анзацы и старт с тождества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5" name="Image 0" descr="https://kimi-img.moonshot.cn/pub/slides/slides_tmpl/image/25-08-27-19:57:37-d2nf5c98bjvh7rlivsdg.png"/>
          <p:cNvPicPr>
            <a:picLocks noChangeAspect="1"/>
          </p:cNvPicPr>
          <p:nvPr/>
        </p:nvPicPr>
        <p:blipFill>
          <a:blip r:embed="rId3">
            <a:alphaModFix amt="87000"/>
          </a:blip>
          <a:srcRect t="6012" b="6012"/>
          <a:stretch/>
        </p:blipFill>
        <p:spPr>
          <a:xfrm>
            <a:off x="5850255" y="1395730"/>
            <a:ext cx="5867400" cy="2212340"/>
          </a:xfrm>
          <a:prstGeom prst="rect">
            <a:avLst/>
          </a:prstGeom>
        </p:spPr>
      </p:pic>
      <p:pic>
        <p:nvPicPr>
          <p:cNvPr id="16" name="Image 1" descr="https://kimi-img.moonshot.cn/pub/slides/slides_tmpl/image/25-08-27-19:57:38-d2nf5ch8bjvh7rlivsgg.png"/>
          <p:cNvPicPr>
            <a:picLocks noChangeAspect="1"/>
          </p:cNvPicPr>
          <p:nvPr/>
        </p:nvPicPr>
        <p:blipFill>
          <a:blip r:embed="rId4">
            <a:alphaModFix amt="95000"/>
          </a:blip>
          <a:srcRect t="4674" b="4674"/>
          <a:stretch/>
        </p:blipFill>
        <p:spPr>
          <a:xfrm>
            <a:off x="4523740" y="3880485"/>
            <a:ext cx="4408805" cy="223393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 rot="10800000">
            <a:off x="4581525" y="3308985"/>
            <a:ext cx="6776085" cy="650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1000"/>
                </a:srgbClr>
              </a:gs>
              <a:gs pos="95000">
                <a:srgbClr val="6389D3">
                  <a:alpha val="68000"/>
                </a:srgbClr>
              </a:gs>
              <a:gs pos="100000">
                <a:srgbClr val="6389D3">
                  <a:alpha val="6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 rot="10800000">
            <a:off x="4581525" y="3308985"/>
            <a:ext cx="6776085" cy="6502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2920" y="1534795"/>
            <a:ext cx="6639560" cy="1939290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02920" y="1534795"/>
            <a:ext cx="6639560" cy="1939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339330" y="3754755"/>
            <a:ext cx="4377690" cy="256857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blurRad="152400" dist="26941" dir="2700000" algn="bl" rotWithShape="0">
              <a:srgbClr val="000000">
                <a:alpha val="1098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339330" y="3754755"/>
            <a:ext cx="4377690" cy="2568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3" name="Image 2" descr="https://kimi-img.moonshot.cn/pub/slides/slides_tmpl/image/25-08-27-19:57:29-d2nf5a98bjvh7rlivs00.png"/>
          <p:cNvPicPr>
            <a:picLocks noChangeAspect="1"/>
          </p:cNvPicPr>
          <p:nvPr/>
        </p:nvPicPr>
        <p:blipFill>
          <a:blip r:embed="rId5">
            <a:alphaModFix amt="74000"/>
          </a:blip>
          <a:srcRect l="128" t="49493" r="-128" b="-2787"/>
          <a:stretch/>
        </p:blipFill>
        <p:spPr>
          <a:xfrm>
            <a:off x="5023485" y="294005"/>
            <a:ext cx="6927215" cy="2076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8015" y="1986280"/>
            <a:ext cx="6514465" cy="1060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Hamiltonian Variational Ansatz (HVA) строится по физике задачи, ограничивая поиск полезной областью. Это позволяет избежать бесплодных плато и ускорить обучение.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28189" y="1663533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Hamiltonian Variational Ansatz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09600" y="4314825"/>
            <a:ext cx="3667760" cy="1706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Инициализация с параметрами, где схема реализует тождественную операцию (U ≈ I), обеспечивает эффективную глубину 0 и сохраняет градиент на старте обучения.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77215" y="389509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Инициализация Identity Block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425690" y="385572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Перенос параметров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483475" y="4326255"/>
            <a:ext cx="4121150" cy="1706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Перенос параметров с малой системы на большую ускоряет сходимость и позволяет использовать предобученные модели для более сложных задач.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0">
          <a:gsLst>
            <a:gs pos="0">
              <a:srgbClr val="94B9FF">
                <a:alpha val="50000"/>
              </a:srgbClr>
            </a:gs>
            <a:gs pos="12000">
              <a:srgbClr val="94B9FF">
                <a:alpha val="50000"/>
              </a:srgbClr>
            </a:gs>
            <a:gs pos="36000">
              <a:srgbClr val="94B9FF">
                <a:alpha val="0"/>
              </a:srgbClr>
            </a:gs>
            <a:gs pos="63000">
              <a:srgbClr val="94B9FF">
                <a:alpha val="9000"/>
              </a:srgbClr>
            </a:gs>
            <a:gs pos="98000">
              <a:srgbClr val="94B9FF">
                <a:alpha val="54000"/>
              </a:srgbClr>
            </a:gs>
            <a:gs pos="100000">
              <a:srgbClr val="94B9FF">
                <a:alpha val="54000"/>
              </a:srgbClr>
            </a:gs>
          </a:gsLst>
          <a:lin ang="17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0-d2nf5ah8bjvh7rlivs1g.png"/>
          <p:cNvPicPr>
            <a:picLocks noChangeAspect="1"/>
          </p:cNvPicPr>
          <p:nvPr/>
        </p:nvPicPr>
        <p:blipFill>
          <a:blip r:embed="rId3">
            <a:alphaModFix amt="83000"/>
          </a:blip>
          <a:srcRect l="25401" t="16194" r="42943" b="26759"/>
          <a:stretch/>
        </p:blipFill>
        <p:spPr>
          <a:xfrm>
            <a:off x="4166235" y="1635760"/>
            <a:ext cx="3859530" cy="3912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Адаптивные стратегии обучения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2" name="Image 1" descr="https://kimi-img.moonshot.cn/pub/slides/slides_tmpl/image/25-08-27-19:57:36-d2nf5c18bjvh7rlivsb0.png"/>
          <p:cNvPicPr>
            <a:picLocks noChangeAspect="1"/>
          </p:cNvPicPr>
          <p:nvPr/>
        </p:nvPicPr>
        <p:blipFill>
          <a:blip r:embed="rId4"/>
          <a:srcRect t="19549" b="19549"/>
          <a:stretch/>
        </p:blipFill>
        <p:spPr>
          <a:xfrm flipH="1">
            <a:off x="685800" y="1402398"/>
            <a:ext cx="5400000" cy="2466724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7:36-d2nf5c18bjvh7rlivsbg.png"/>
          <p:cNvPicPr>
            <a:picLocks noChangeAspect="1"/>
          </p:cNvPicPr>
          <p:nvPr/>
        </p:nvPicPr>
        <p:blipFill>
          <a:blip r:embed="rId5"/>
          <a:srcRect t="34778" b="34778"/>
          <a:stretch/>
        </p:blipFill>
        <p:spPr>
          <a:xfrm flipH="1">
            <a:off x="6085840" y="3868738"/>
            <a:ext cx="5400000" cy="2466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" y="4833938"/>
            <a:ext cx="5101590" cy="161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Layerwise Learning оптимизирует слой за слоем, замораживая предыдущие. Это контролирует рост сложности и избегает накопления шума, сохраняя измеримый градиент на каждом этапе обучения.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85800" y="3983673"/>
            <a:ext cx="5101590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gradFill flip="none" rotWithShape="0">
                  <a:gsLst>
                    <a:gs pos="0">
                      <a:srgbClr val="ACC1E8"/>
                    </a:gs>
                    <a:gs pos="31000">
                      <a:srgbClr val="849FDE"/>
                    </a:gs>
                    <a:gs pos="68000">
                      <a:srgbClr val="5A7DD4"/>
                    </a:gs>
                    <a:gs pos="100000">
                      <a:srgbClr val="5A7DD4"/>
                    </a:gs>
                  </a:gsLst>
                  <a:lin ang="10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84290" y="2108200"/>
            <a:ext cx="5101590" cy="161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ADAPT-VQE динамически добавляет из пула операторы с максимальным градиентом, выращивая анзац шаг за шагом и гарантируя спуск по энергии. Это один из самых эффективных методов борьбы с плато.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84925" y="1414463"/>
            <a:ext cx="4802400" cy="73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871215" y="1301591"/>
            <a:ext cx="933445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gradFill flip="none" rotWithShape="0">
                  <a:gsLst>
                    <a:gs pos="0">
                      <a:srgbClr val="5A7DD4"/>
                    </a:gs>
                    <a:gs pos="36000">
                      <a:srgbClr val="5A7DD4"/>
                    </a:gs>
                    <a:gs pos="99000">
                      <a:srgbClr val="ACC1E8"/>
                    </a:gs>
                    <a:gs pos="100000">
                      <a:srgbClr val="ACC1E8"/>
                    </a:gs>
                  </a:gsLst>
                  <a:lin ang="10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118735" y="1600200"/>
            <a:ext cx="548322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ADAPT-VQE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38910" y="4337050"/>
            <a:ext cx="548322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Layerwise Learning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r>
              <a:rPr lang="ru-RU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Выводы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</a:t>
            </a:r>
            <a:r>
              <a:rPr lang="ru-RU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0">
          <a:gsLst>
            <a:gs pos="0">
              <a:srgbClr val="94B9FF">
                <a:alpha val="80000"/>
              </a:srgbClr>
            </a:gs>
            <a:gs pos="1000">
              <a:srgbClr val="94B9FF">
                <a:alpha val="80000"/>
              </a:srgbClr>
            </a:gs>
            <a:gs pos="32000">
              <a:srgbClr val="94B9FF">
                <a:alpha val="37000"/>
              </a:srgbClr>
            </a:gs>
            <a:gs pos="51000">
              <a:srgbClr val="94B9FF">
                <a:alpha val="0"/>
              </a:srgbClr>
            </a:gs>
            <a:gs pos="74000">
              <a:srgbClr val="94B9FF">
                <a:alpha val="36000"/>
              </a:srgbClr>
            </a:gs>
            <a:gs pos="98000">
              <a:srgbClr val="94B9FF">
                <a:alpha val="48000"/>
              </a:srgbClr>
            </a:gs>
            <a:gs pos="100000">
              <a:srgbClr val="94B9FF">
                <a:alpha val="48000"/>
              </a:srgbClr>
            </a:gs>
          </a:gsLst>
          <a:lin ang="1746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Компромисс выразительности и обучаемости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0985" y="16319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19:57:29-d2nf5a98bjvh7rlivs00.png"/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53877" r="-128" b="-2787"/>
          <a:stretch/>
        </p:blipFill>
        <p:spPr>
          <a:xfrm>
            <a:off x="5582285" y="20320"/>
            <a:ext cx="6927215" cy="19056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1035" y="1775460"/>
            <a:ext cx="2693035" cy="448627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28000"/>
                </a:srgbClr>
              </a:gs>
              <a:gs pos="14000">
                <a:srgbClr val="FFFFFF">
                  <a:alpha val="28000"/>
                </a:srgbClr>
              </a:gs>
              <a:gs pos="33000">
                <a:srgbClr val="FFFFFF">
                  <a:alpha val="55000"/>
                </a:srgbClr>
              </a:gs>
              <a:gs pos="56000">
                <a:srgbClr val="FFFFFF"/>
              </a:gs>
              <a:gs pos="74000">
                <a:srgbClr val="FFFFFF">
                  <a:alpha val="39000"/>
                </a:srgbClr>
              </a:gs>
              <a:gs pos="91000">
                <a:srgbClr val="FFFFFF">
                  <a:alpha val="44000"/>
                </a:srgbClr>
              </a:gs>
              <a:gs pos="100000">
                <a:srgbClr val="FFFFFF">
                  <a:alpha val="4400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1035" y="1775460"/>
            <a:ext cx="2693035" cy="44862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42970" y="1729740"/>
            <a:ext cx="2693035" cy="453199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33000"/>
                </a:srgbClr>
              </a:gs>
              <a:gs pos="14000">
                <a:srgbClr val="FFFFFF">
                  <a:alpha val="33000"/>
                </a:srgbClr>
              </a:gs>
              <a:gs pos="33000">
                <a:srgbClr val="FFFFFF">
                  <a:alpha val="54000"/>
                </a:srgbClr>
              </a:gs>
              <a:gs pos="56000">
                <a:srgbClr val="FFFFFF"/>
              </a:gs>
              <a:gs pos="74000">
                <a:srgbClr val="FFFFFF">
                  <a:alpha val="39000"/>
                </a:srgbClr>
              </a:gs>
              <a:gs pos="91000">
                <a:srgbClr val="FFFFFF">
                  <a:alpha val="37000"/>
                </a:srgbClr>
              </a:gs>
              <a:gs pos="100000">
                <a:srgbClr val="FFFFFF">
                  <a:alpha val="3700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42970" y="1729740"/>
            <a:ext cx="2693035" cy="4531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24905" y="1729740"/>
            <a:ext cx="2693035" cy="453199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35000"/>
                </a:srgbClr>
              </a:gs>
              <a:gs pos="14000">
                <a:srgbClr val="FFFFFF">
                  <a:alpha val="35000"/>
                </a:srgbClr>
              </a:gs>
              <a:gs pos="33000">
                <a:srgbClr val="FFFFFF">
                  <a:alpha val="54000"/>
                </a:srgbClr>
              </a:gs>
              <a:gs pos="56000">
                <a:srgbClr val="FFFFFF"/>
              </a:gs>
              <a:gs pos="74000">
                <a:srgbClr val="FFFFFF">
                  <a:alpha val="33000"/>
                </a:srgbClr>
              </a:gs>
              <a:gs pos="91000">
                <a:srgbClr val="FFFFFF">
                  <a:alpha val="32000"/>
                </a:srgbClr>
              </a:gs>
              <a:gs pos="100000">
                <a:srgbClr val="FFFFFF">
                  <a:alpha val="3200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24905" y="1729740"/>
            <a:ext cx="2693035" cy="4531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006840" y="1729740"/>
            <a:ext cx="2693035" cy="453199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27000"/>
                </a:srgbClr>
              </a:gs>
              <a:gs pos="14000">
                <a:srgbClr val="FFFFFF">
                  <a:alpha val="27000"/>
                </a:srgbClr>
              </a:gs>
              <a:gs pos="33000">
                <a:srgbClr val="FFFFFF">
                  <a:alpha val="51000"/>
                </a:srgbClr>
              </a:gs>
              <a:gs pos="56000">
                <a:srgbClr val="FFFFFF"/>
              </a:gs>
              <a:gs pos="74000">
                <a:srgbClr val="FFFFFF">
                  <a:alpha val="20000"/>
                </a:srgbClr>
              </a:gs>
              <a:gs pos="90000">
                <a:srgbClr val="FFFFFF">
                  <a:alpha val="24000"/>
                </a:srgbClr>
              </a:gs>
              <a:gs pos="100000">
                <a:srgbClr val="FFFFFF">
                  <a:alpha val="2400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006840" y="1729740"/>
            <a:ext cx="2693035" cy="4531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0" name="Image 1" descr="https://kimi-img.moonshot.cn/pub/slides/slides_tmpl/image/25-08-27-19:57:38-d2nf5ch8bjvh7rlivsh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64" y="3002444"/>
            <a:ext cx="11103609" cy="190347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664335" y="1405255"/>
            <a:ext cx="734060" cy="734060"/>
          </a:xfrm>
          <a:prstGeom prst="ellipse">
            <a:avLst/>
          </a:prstGeom>
          <a:solidFill>
            <a:srgbClr val="87A9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664335" y="1405255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765300" y="1506220"/>
            <a:ext cx="532130" cy="532130"/>
          </a:xfrm>
          <a:prstGeom prst="ellipse">
            <a:avLst/>
          </a:prstGeom>
          <a:gradFill flip="none" rotWithShape="1">
            <a:gsLst>
              <a:gs pos="0">
                <a:srgbClr val="87A9FF"/>
              </a:gs>
              <a:gs pos="100000">
                <a:srgbClr val="4874CB">
                  <a:alpha val="91000"/>
                </a:srgbClr>
              </a:gs>
            </a:gsLst>
            <a:lin ang="2700000" scaled="1"/>
          </a:gradFill>
          <a:ln/>
          <a:effectLst>
            <a:outerShdw blurRad="139700" dist="26941" dir="2700000" algn="bl" rotWithShape="0">
              <a:srgbClr val="0041E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765300" y="1506220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654175" y="1603375"/>
            <a:ext cx="762000" cy="337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406265" y="1413510"/>
            <a:ext cx="734060" cy="734060"/>
          </a:xfrm>
          <a:prstGeom prst="ellipse">
            <a:avLst/>
          </a:prstGeom>
          <a:solidFill>
            <a:srgbClr val="87A9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406265" y="1413510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507230" y="1514475"/>
            <a:ext cx="532130" cy="532130"/>
          </a:xfrm>
          <a:prstGeom prst="ellipse">
            <a:avLst/>
          </a:prstGeom>
          <a:gradFill flip="none" rotWithShape="1">
            <a:gsLst>
              <a:gs pos="0">
                <a:srgbClr val="87A9FF"/>
              </a:gs>
              <a:gs pos="100000">
                <a:srgbClr val="4874CB">
                  <a:alpha val="91000"/>
                </a:srgbClr>
              </a:gs>
            </a:gsLst>
            <a:lin ang="2700000" scaled="1"/>
          </a:gradFill>
          <a:ln/>
          <a:effectLst>
            <a:outerShdw blurRad="139700" dist="26941" dir="2700000" algn="bl" rotWithShape="0">
              <a:srgbClr val="0041E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507230" y="1514475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396105" y="1611630"/>
            <a:ext cx="762000" cy="337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7200265" y="1413510"/>
            <a:ext cx="734060" cy="734060"/>
          </a:xfrm>
          <a:prstGeom prst="ellipse">
            <a:avLst/>
          </a:prstGeom>
          <a:solidFill>
            <a:srgbClr val="87A9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200265" y="1413510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301230" y="1514475"/>
            <a:ext cx="532130" cy="532130"/>
          </a:xfrm>
          <a:prstGeom prst="ellipse">
            <a:avLst/>
          </a:prstGeom>
          <a:gradFill flip="none" rotWithShape="1">
            <a:gsLst>
              <a:gs pos="0">
                <a:srgbClr val="87A9FF"/>
              </a:gs>
              <a:gs pos="100000">
                <a:srgbClr val="4874CB">
                  <a:alpha val="91000"/>
                </a:srgbClr>
              </a:gs>
            </a:gsLst>
            <a:lin ang="2700000" scaled="1"/>
          </a:gradFill>
          <a:ln/>
          <a:effectLst>
            <a:outerShdw blurRad="139700" dist="26941" dir="2700000" algn="bl" rotWithShape="0">
              <a:srgbClr val="0041E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7301230" y="1514475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190105" y="1611630"/>
            <a:ext cx="762000" cy="337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9994265" y="1424940"/>
            <a:ext cx="734060" cy="734060"/>
          </a:xfrm>
          <a:prstGeom prst="ellipse">
            <a:avLst/>
          </a:prstGeom>
          <a:solidFill>
            <a:srgbClr val="87A9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9994265" y="1424940"/>
            <a:ext cx="734060" cy="7340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10095230" y="1525905"/>
            <a:ext cx="532130" cy="532130"/>
          </a:xfrm>
          <a:prstGeom prst="ellipse">
            <a:avLst/>
          </a:prstGeom>
          <a:gradFill flip="none" rotWithShape="1">
            <a:gsLst>
              <a:gs pos="0">
                <a:srgbClr val="87A9FF"/>
              </a:gs>
              <a:gs pos="100000">
                <a:srgbClr val="4874CB">
                  <a:alpha val="91000"/>
                </a:srgbClr>
              </a:gs>
            </a:gsLst>
            <a:lin ang="2700000" scaled="1"/>
          </a:gradFill>
          <a:ln/>
          <a:effectLst>
            <a:outerShdw blurRad="139700" dist="26941" dir="2700000" algn="bl" rotWithShape="0">
              <a:srgbClr val="0041E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10095230" y="1525905"/>
            <a:ext cx="532130" cy="532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9984105" y="1623060"/>
            <a:ext cx="762000" cy="337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1908175" y="2966085"/>
            <a:ext cx="198755" cy="198755"/>
          </a:xfrm>
          <a:prstGeom prst="ellipse">
            <a:avLst/>
          </a:prstGeom>
          <a:solidFill>
            <a:srgbClr val="5A7DD4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1908175" y="2966085"/>
            <a:ext cx="198755" cy="198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4690110" y="2966085"/>
            <a:ext cx="198755" cy="198755"/>
          </a:xfrm>
          <a:prstGeom prst="ellipse">
            <a:avLst/>
          </a:prstGeom>
          <a:solidFill>
            <a:srgbClr val="5A7DD4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690110" y="2966085"/>
            <a:ext cx="198755" cy="198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7472045" y="2973070"/>
            <a:ext cx="198755" cy="198755"/>
          </a:xfrm>
          <a:prstGeom prst="ellipse">
            <a:avLst/>
          </a:prstGeom>
          <a:solidFill>
            <a:srgbClr val="5A7DD4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7472045" y="2973070"/>
            <a:ext cx="198755" cy="198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10313670" y="2973705"/>
            <a:ext cx="198755" cy="198755"/>
          </a:xfrm>
          <a:prstGeom prst="ellipse">
            <a:avLst/>
          </a:prstGeom>
          <a:solidFill>
            <a:srgbClr val="5A7DD4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10313670" y="2973705"/>
            <a:ext cx="198755" cy="198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1114425" y="2363470"/>
            <a:ext cx="18415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Фундаментальный компромисс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3852545" y="2355850"/>
            <a:ext cx="18415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1600" b="1" dirty="0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Текущий статус: «Проблема локализована»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6650990" y="2355850"/>
            <a:ext cx="18415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 err="1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Систематизация</a:t>
            </a:r>
            <a:r>
              <a:rPr lang="en-US" sz="1600" b="1" dirty="0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b="1" dirty="0" err="1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методов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9397365" y="2361565"/>
            <a:ext cx="18415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1600" b="1" dirty="0">
                <a:solidFill>
                  <a:srgbClr val="3869A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Дальнейшая работа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867410" y="3294380"/>
            <a:ext cx="2280285" cy="259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Существует фундаментальный компромисс: высокая выразительность влечёт бесплодные плато, а низкая — классическую симулируемость и потерю квантового преимущества.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1087120" y="5884545"/>
            <a:ext cx="18415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--01--</a:t>
            </a:r>
            <a:endParaRPr lang="en-US" sz="1600" dirty="0"/>
          </a:p>
        </p:txBody>
      </p:sp>
      <p:sp>
        <p:nvSpPr>
          <p:cNvPr id="55" name="Text 51"/>
          <p:cNvSpPr/>
          <p:nvPr/>
        </p:nvSpPr>
        <p:spPr>
          <a:xfrm>
            <a:off x="3903980" y="5884545"/>
            <a:ext cx="18415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--02--</a:t>
            </a:r>
            <a:endParaRPr lang="en-US" sz="1600" dirty="0"/>
          </a:p>
        </p:txBody>
      </p:sp>
      <p:sp>
        <p:nvSpPr>
          <p:cNvPr id="56" name="Text 52"/>
          <p:cNvSpPr/>
          <p:nvPr/>
        </p:nvSpPr>
        <p:spPr>
          <a:xfrm>
            <a:off x="6650355" y="5884545"/>
            <a:ext cx="18415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--03--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9397365" y="5884545"/>
            <a:ext cx="18415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--04--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3649345" y="3277235"/>
            <a:ext cx="2280285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Бесплодные плато перестали быть непреодолимым барьером для систем малой и средней размерности при использовании правильных стратегий инициализации.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6426835" y="3294380"/>
            <a:ext cx="2280285" cy="259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Три основные классы методов борьбы: локализация, умная инициализация, адаптивное обучение.</a:t>
            </a:r>
            <a:endParaRPr lang="en-US" sz="1600" dirty="0"/>
          </a:p>
        </p:txBody>
      </p:sp>
      <p:sp>
        <p:nvSpPr>
          <p:cNvPr id="60" name="Text 56"/>
          <p:cNvSpPr/>
          <p:nvPr/>
        </p:nvSpPr>
        <p:spPr>
          <a:xfrm>
            <a:off x="9213215" y="3277235"/>
            <a:ext cx="2280285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Фокус на создании гибридных методов оптимизации для минимизации классических и квантовых ресурсов при масштабировании систем.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24CA-E1AF-F554-48E8-3380C059E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1BFDF8-ADE9-9ECE-60C9-3DF08D51CE63}"/>
              </a:ext>
            </a:extLst>
          </p:cNvPr>
          <p:cNvSpPr/>
          <p:nvPr/>
        </p:nvSpPr>
        <p:spPr>
          <a:xfrm>
            <a:off x="789939" y="394335"/>
            <a:ext cx="7758225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ru-RU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Использованные материалы</a:t>
            </a:r>
            <a:endParaRPr lang="en-US" sz="1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2B4D56-6918-E7D8-EB7C-FA48897B6288}"/>
              </a:ext>
            </a:extLst>
          </p:cNvPr>
          <p:cNvSpPr/>
          <p:nvPr/>
        </p:nvSpPr>
        <p:spPr>
          <a:xfrm>
            <a:off x="260985" y="17081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CF8B35-490A-2312-4B78-24EF2D88838F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19:57:29-d2nf5a98bjvh7rlivs00.png">
            <a:extLst>
              <a:ext uri="{FF2B5EF4-FFF2-40B4-BE49-F238E27FC236}">
                <a16:creationId xmlns:a16="http://schemas.microsoft.com/office/drawing/2014/main" id="{7C2FCD56-20E5-2475-E51B-268ED8A59A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55116" r="-128" b="-2787"/>
          <a:stretch/>
        </p:blipFill>
        <p:spPr>
          <a:xfrm>
            <a:off x="5582039" y="16115"/>
            <a:ext cx="6927215" cy="1857375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63A289BC-C6D0-AEE0-5C5B-4CDB53ED2796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EDBC910-D28D-3BB6-B744-DA7844145C11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0B543A3-11FA-3415-F46B-03418EA05F7E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82CF181-5874-569E-629C-78E2352A553A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D6B9827-860E-B28B-C005-13B5C8A245A3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718EB65-06D5-FD49-17FA-23CFED006267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B5F0816-ACEB-0F69-E93E-EC56E7462E5F}"/>
              </a:ext>
            </a:extLst>
          </p:cNvPr>
          <p:cNvSpPr/>
          <p:nvPr/>
        </p:nvSpPr>
        <p:spPr>
          <a:xfrm>
            <a:off x="992108" y="1398534"/>
            <a:ext cx="4771751" cy="4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0F5B530-4B04-BAFF-D539-B1EE5FF50FA7}"/>
              </a:ext>
            </a:extLst>
          </p:cNvPr>
          <p:cNvSpPr/>
          <p:nvPr/>
        </p:nvSpPr>
        <p:spPr>
          <a:xfrm>
            <a:off x="6531602" y="1849081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E44E565-15B8-B721-750E-A939F16B7AD3}"/>
              </a:ext>
            </a:extLst>
          </p:cNvPr>
          <p:cNvSpPr/>
          <p:nvPr/>
        </p:nvSpPr>
        <p:spPr>
          <a:xfrm>
            <a:off x="6531602" y="2325633"/>
            <a:ext cx="4771367" cy="12045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25226AF7-2EAA-AAF1-8EF9-0C6C561F5A3A}"/>
              </a:ext>
            </a:extLst>
          </p:cNvPr>
          <p:cNvSpPr/>
          <p:nvPr/>
        </p:nvSpPr>
        <p:spPr>
          <a:xfrm>
            <a:off x="-3654425" y="6607175"/>
            <a:ext cx="7963535" cy="335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4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F6616CE-B819-7891-9534-922B46F9BB2B}"/>
              </a:ext>
            </a:extLst>
          </p:cNvPr>
          <p:cNvSpPr/>
          <p:nvPr/>
        </p:nvSpPr>
        <p:spPr>
          <a:xfrm>
            <a:off x="-3654425" y="6607175"/>
            <a:ext cx="7963535" cy="335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76FE67-CF49-53A0-0956-A2D86B3D9A83}"/>
              </a:ext>
            </a:extLst>
          </p:cNvPr>
          <p:cNvSpPr txBox="1"/>
          <p:nvPr/>
        </p:nvSpPr>
        <p:spPr>
          <a:xfrm>
            <a:off x="867205" y="1632037"/>
            <a:ext cx="1045461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McClean, J. R., </a:t>
            </a:r>
            <a:r>
              <a:rPr lang="en-US" sz="1600" dirty="0" err="1"/>
              <a:t>Boixo</a:t>
            </a:r>
            <a:r>
              <a:rPr lang="en-US" sz="1600" dirty="0"/>
              <a:t>, S., </a:t>
            </a:r>
            <a:r>
              <a:rPr lang="en-US" sz="1600" dirty="0" err="1"/>
              <a:t>Smelyanskiy</a:t>
            </a:r>
            <a:r>
              <a:rPr lang="en-US" sz="1600" dirty="0"/>
              <a:t>, V. N., </a:t>
            </a:r>
            <a:r>
              <a:rPr lang="en-US" sz="1600" dirty="0" err="1"/>
              <a:t>Babbush</a:t>
            </a:r>
            <a:r>
              <a:rPr lang="en-US" sz="1600" dirty="0"/>
              <a:t>, R., &amp; Neven, H. (2018). Barren plateaus in quantum neural network training landscapes. Nature Communications, 9(1), 4812. DOI: 10.1038/s41467-018-07090-4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Cerezo, M., Sone, A., Volkoff, T., </a:t>
            </a:r>
            <a:r>
              <a:rPr lang="en-US" sz="1600" dirty="0" err="1"/>
              <a:t>Cincio</a:t>
            </a:r>
            <a:r>
              <a:rPr lang="en-US" sz="1600" dirty="0"/>
              <a:t>, L., &amp; Coles, P. J. (2021). Cost function dependent barren plateaus in shallow parametrized quantum circuits. Nature Communications, 12(1), 1791. DOI: 10.1038/s41467-021-21728-w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Marrero, C. O., </a:t>
            </a:r>
            <a:r>
              <a:rPr lang="en-US" sz="1600" dirty="0" err="1"/>
              <a:t>Kieferová</a:t>
            </a:r>
            <a:r>
              <a:rPr lang="en-US" sz="1600" dirty="0"/>
              <a:t>, M., &amp; Wiebe, N. (2021). Entanglement-induced barren plateaus. PRX Quantum, 2(4), 040316. DOI: 10.1103/PRXQuantum.2.040316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Holmes, Z., Sharma, K., Cerezo, M., &amp; Coles, P. J. (2022). Connecting ansatz </a:t>
            </a:r>
            <a:r>
              <a:rPr lang="en-US" sz="1600" dirty="0" err="1"/>
              <a:t>expressibility</a:t>
            </a:r>
            <a:r>
              <a:rPr lang="en-US" sz="1600" dirty="0"/>
              <a:t> to gradient magnitudes and barren plateaus. PRX Quantum, 3(1), 010313. DOI: 10.1103/PRXQuantum.3.010313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Grimsley, H. R., Mayhall, N. J., Barron, G. S., Barnes, E., &amp; Economou, S. E. (2023). Adaptive, problem-tailored variational quantum </a:t>
            </a:r>
            <a:r>
              <a:rPr lang="en-US" sz="1600" dirty="0" err="1"/>
              <a:t>eigensolver</a:t>
            </a:r>
            <a:r>
              <a:rPr lang="en-US" sz="1600" dirty="0"/>
              <a:t> mitigates rough parameter landscapes and barren plateaus. </a:t>
            </a:r>
            <a:r>
              <a:rPr lang="en-US" sz="1600" dirty="0" err="1"/>
              <a:t>npj</a:t>
            </a:r>
            <a:r>
              <a:rPr lang="en-US" sz="1600" dirty="0"/>
              <a:t> Quantum Information, 9(1), 25. DOI: 10.1038/s41534-023-00681-0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Arrasmith, A., Holmes, Z., Cerezo, M., &amp; Coles, P. J. (2022). Equivalence of quantum barren plateaus to cost concentration and narrow gorges. Quantum Science and Technology, 7(4), 045015. DOI: 10.1088/2058-9565/ac7d06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Mele, A. A., Mbeng, G. B., Santoro, G. E., Collura, M., &amp; Torta, P. (2022). Avoiding barren plateaus via transferability of smooth solutions in Hamiltonian variational ansatz. Physical Review A, 106(6), L060401. DOI: 10.1103/PhysRevA.106.L060401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Liu, H.-Y., Sun, T.-P., Wu, Y.-C., Han, Y.-J., &amp; Guo, G.-P. (2023). Mitigating barren plateaus with transfer-learning-inspired parameter initializations. New Journal of Physics, 25(1), 013039. DOI: 10.1088/1367-2630/acb58e</a:t>
            </a:r>
          </a:p>
          <a:p>
            <a:pPr marL="228600" indent="-228600">
              <a:buFont typeface="+mj-lt"/>
              <a:buAutoNum type="arabicPeriod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04144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7B3D-3354-2969-FEF5-8EEDC001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8FB044-36BF-EDCF-BF22-2FC47BED17CB}"/>
              </a:ext>
            </a:extLst>
          </p:cNvPr>
          <p:cNvSpPr/>
          <p:nvPr/>
        </p:nvSpPr>
        <p:spPr>
          <a:xfrm>
            <a:off x="789939" y="394335"/>
            <a:ext cx="7758225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ru-RU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Использованные материалы</a:t>
            </a:r>
            <a:endParaRPr lang="en-US" sz="1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4416A4-4236-E5B9-FB52-2A19AA58B25A}"/>
              </a:ext>
            </a:extLst>
          </p:cNvPr>
          <p:cNvSpPr/>
          <p:nvPr/>
        </p:nvSpPr>
        <p:spPr>
          <a:xfrm>
            <a:off x="260985" y="170815"/>
            <a:ext cx="1071245" cy="55372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874CB">
                  <a:alpha val="65000"/>
                </a:srgbClr>
              </a:gs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3B738D-91B7-FB51-EA19-049E28B12696}"/>
              </a:ext>
            </a:extLst>
          </p:cNvPr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19:57:29-d2nf5a98bjvh7rlivs00.png">
            <a:extLst>
              <a:ext uri="{FF2B5EF4-FFF2-40B4-BE49-F238E27FC236}">
                <a16:creationId xmlns:a16="http://schemas.microsoft.com/office/drawing/2014/main" id="{0DA4E1FD-97F1-7A8D-587C-1E15197073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t="55116" r="-128" b="-2787"/>
          <a:stretch/>
        </p:blipFill>
        <p:spPr>
          <a:xfrm>
            <a:off x="5582039" y="16115"/>
            <a:ext cx="6927215" cy="1857375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17C1E86D-DA4D-6723-455E-C0B9E2EC96A8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3AF701C-63D1-4755-9A58-7EB017C0563D}"/>
              </a:ext>
            </a:extLst>
          </p:cNvPr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492D579-D7B5-3815-8836-364C6FAA6FF6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F472927-02C2-550B-E30B-5ACD93F99A82}"/>
              </a:ext>
            </a:extLst>
          </p:cNvPr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FD117DB-4A23-5A52-9C83-0208B01F2465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10D7EF5-3E6B-43B3-932E-11E5FDFAB1E4}"/>
              </a:ext>
            </a:extLst>
          </p:cNvPr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0AD6602-D6BF-3774-CA43-98F1D50F33BE}"/>
              </a:ext>
            </a:extLst>
          </p:cNvPr>
          <p:cNvSpPr/>
          <p:nvPr/>
        </p:nvSpPr>
        <p:spPr>
          <a:xfrm>
            <a:off x="992108" y="1398534"/>
            <a:ext cx="4771751" cy="46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4494052-9633-BA13-98EA-359CC999FF79}"/>
              </a:ext>
            </a:extLst>
          </p:cNvPr>
          <p:cNvSpPr/>
          <p:nvPr/>
        </p:nvSpPr>
        <p:spPr>
          <a:xfrm>
            <a:off x="6531602" y="1849081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C99AE7B0-2DC4-1902-3B93-A5D6D5372F25}"/>
              </a:ext>
            </a:extLst>
          </p:cNvPr>
          <p:cNvSpPr/>
          <p:nvPr/>
        </p:nvSpPr>
        <p:spPr>
          <a:xfrm>
            <a:off x="6531602" y="2325633"/>
            <a:ext cx="4771367" cy="12045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47E80489-9F27-DDDD-E2CC-117A00DDCB9C}"/>
              </a:ext>
            </a:extLst>
          </p:cNvPr>
          <p:cNvSpPr/>
          <p:nvPr/>
        </p:nvSpPr>
        <p:spPr>
          <a:xfrm>
            <a:off x="-3654425" y="6607175"/>
            <a:ext cx="7963535" cy="335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4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7687EE4-BAF3-42D1-4CCF-E196BD30BA1A}"/>
              </a:ext>
            </a:extLst>
          </p:cNvPr>
          <p:cNvSpPr/>
          <p:nvPr/>
        </p:nvSpPr>
        <p:spPr>
          <a:xfrm>
            <a:off x="-3654425" y="6607175"/>
            <a:ext cx="7963535" cy="335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D3F79B-FC5F-B4EA-D10B-F750F0F811A8}"/>
              </a:ext>
            </a:extLst>
          </p:cNvPr>
          <p:cNvSpPr txBox="1"/>
          <p:nvPr/>
        </p:nvSpPr>
        <p:spPr>
          <a:xfrm>
            <a:off x="889031" y="1835001"/>
            <a:ext cx="10454615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 startAt="9"/>
            </a:pPr>
            <a:r>
              <a:rPr lang="en-US" dirty="0"/>
              <a:t>Lee, X., Yan, X., Xie, N., Saito, Y., Cai, D., &amp; Asai, N. (2024). Iterative </a:t>
            </a:r>
            <a:r>
              <a:rPr lang="en-US" dirty="0" err="1"/>
              <a:t>layerwise</a:t>
            </a:r>
            <a:r>
              <a:rPr lang="en-US" dirty="0"/>
              <a:t> training for quantum approximate optimization algorithm. Physical Review A, 109(5), 052406. DOI: 10.1103/PhysRevA.109.052406</a:t>
            </a:r>
          </a:p>
          <a:p>
            <a:pPr marL="342900" lvl="0" indent="-342900">
              <a:buFont typeface="+mj-lt"/>
              <a:buAutoNum type="arabicPeriod" startAt="9"/>
            </a:pPr>
            <a:r>
              <a:rPr lang="en-US" dirty="0"/>
              <a:t>Grant, E., </a:t>
            </a:r>
            <a:r>
              <a:rPr lang="en-US" dirty="0" err="1"/>
              <a:t>Wossnig</a:t>
            </a:r>
            <a:r>
              <a:rPr lang="en-US" dirty="0"/>
              <a:t>, L., Ostaszewski, M., &amp; Benedetti, M. (2019). An initialization strategy for addressing barren plateaus in parametrized quantum circuits. Quantum, 3, 214. DOI: 10.22331/q-2019-12-09-214</a:t>
            </a:r>
          </a:p>
          <a:p>
            <a:pPr marL="342900" lvl="0" indent="-342900">
              <a:buFont typeface="+mj-lt"/>
              <a:buAutoNum type="arabicPeriod" startAt="9"/>
            </a:pPr>
            <a:r>
              <a:rPr lang="en-US" dirty="0"/>
              <a:t>Zhang, K., Liu, L., Hsieh, M.-H., &amp; Tao, D. (2022). Escaping from the barren plateau via Gaussian initializations in deep variational quantum circuits. In Advances in Neural Information Processing Systems, 35, 18612–18627. DOI: 10.48550/arXiv.2203.09376</a:t>
            </a:r>
          </a:p>
          <a:p>
            <a:pPr marL="342900" lvl="0" indent="-342900">
              <a:buFont typeface="+mj-lt"/>
              <a:buAutoNum type="arabicPeriod" startAt="9"/>
            </a:pPr>
            <a:r>
              <a:rPr lang="en-US" dirty="0"/>
              <a:t>Peng, Y., Li, X., Zhang, Z., Chen, S. Y.-C., Liang, Z., &amp; Wang, Y. (2025). Breaking through barren plateaus: Reinforcement learning initializations for deep variational quantum circuits. arXiv:2508.18514 [</a:t>
            </a:r>
            <a:r>
              <a:rPr lang="en-US" dirty="0" err="1"/>
              <a:t>cs.LG</a:t>
            </a:r>
            <a:r>
              <a:rPr lang="en-US" dirty="0"/>
              <a:t>]. DOI: 10.48550/arXiv.2508.18514</a:t>
            </a:r>
          </a:p>
          <a:p>
            <a:pPr marL="342900" lvl="0" indent="-342900">
              <a:buFont typeface="+mj-lt"/>
              <a:buAutoNum type="arabicPeriod" startAt="9"/>
            </a:pPr>
            <a:r>
              <a:rPr lang="en-US" dirty="0"/>
              <a:t>Sack, S. H., Medina, R. A., Michailidis, A. A., Kueng, R., &amp; </a:t>
            </a:r>
            <a:r>
              <a:rPr lang="en-US" dirty="0" err="1"/>
              <a:t>Serbyn</a:t>
            </a:r>
            <a:r>
              <a:rPr lang="en-US" dirty="0"/>
              <a:t>, M. (2022). Avoiding barren plateaus using classical shadows. PRX Quantum, 3(2), 020365. DOI: 10.1103/PRXQuantum.3.020365</a:t>
            </a:r>
          </a:p>
          <a:p>
            <a:pPr marL="342900" lvl="0" indent="-342900">
              <a:buFont typeface="+mj-lt"/>
              <a:buAutoNum type="arabicPeriod" startAt="9"/>
            </a:pPr>
            <a:r>
              <a:rPr lang="en-US" dirty="0"/>
              <a:t>Cerezo, M., Larocca, M., García-Martín, D., et al. (2025). Does provable absence of barren plateaus imply classical </a:t>
            </a:r>
            <a:r>
              <a:rPr lang="en-US" dirty="0" err="1"/>
              <a:t>simulability</a:t>
            </a:r>
            <a:r>
              <a:rPr lang="en-US" dirty="0"/>
              <a:t>? Nature Communications, 16(1), 7907. DOI: 10.1038/s41467-025-63099-6</a:t>
            </a:r>
          </a:p>
          <a:p>
            <a:pPr marL="342900" lvl="0" indent="-342900">
              <a:buFont typeface="+mj-lt"/>
              <a:buAutoNum type="arabicPeriod" startAt="9"/>
            </a:pPr>
            <a:r>
              <a:rPr lang="en-US" dirty="0"/>
              <a:t>Cunningham, J., &amp; Zhuang, J. (2025). Investigating and mitigating barren plateaus in variational quantum circuits: a survey. Quantum Information Processing, 24(2), 48. DOI: 10.1007/s11128-024-03786-x</a:t>
            </a:r>
          </a:p>
          <a:p>
            <a:pPr marL="228600" indent="-228600">
              <a:buFont typeface="+mj-lt"/>
              <a:buAutoNum type="arabicPeriod" startAt="9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08317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405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2949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8492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34036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6958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5123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0667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76211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11754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47298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82841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18385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265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8193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7106" y="2098040"/>
            <a:ext cx="0" cy="1844892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265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39925" y="2018030"/>
            <a:ext cx="9644380" cy="1913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ru-RU" sz="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https://kimi-img.moonshot.cn/pub/slides/slides_tmpl/image/25-08-27-19:57:29-d2nf5a98bjvh7rlivr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0" y="2628265"/>
            <a:ext cx="4368800" cy="3149600"/>
          </a:xfrm>
          <a:prstGeom prst="rect">
            <a:avLst/>
          </a:prstGeom>
        </p:spPr>
      </p:pic>
      <p:pic>
        <p:nvPicPr>
          <p:cNvPr id="24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5" y="3435985"/>
            <a:ext cx="4284345" cy="170751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928734" y="4598035"/>
            <a:ext cx="3525396" cy="429260"/>
          </a:xfrm>
          <a:prstGeom prst="roundRect">
            <a:avLst>
              <a:gd name="adj" fmla="val 44740"/>
            </a:avLst>
          </a:prstGeom>
          <a:solidFill>
            <a:srgbClr val="487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122410" y="4598035"/>
            <a:ext cx="2331720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928734" y="4596130"/>
            <a:ext cx="3513332" cy="430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k-KZ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Азатбекұлы Нұртуган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1635</Words>
  <Application>Microsoft Office PowerPoint</Application>
  <PresentationFormat>Widescreen</PresentationFormat>
  <Paragraphs>150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MiSans</vt:lpstr>
      <vt:lpstr>Arial Black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Преодоление бесплодных плато в VQA</dc:title>
  <dc:subject>Преодоление бесплодных плато в VQA</dc:subject>
  <dc:creator>Kimi</dc:creator>
  <cp:lastModifiedBy>Азатбекұлы Нұртуған</cp:lastModifiedBy>
  <cp:revision>5</cp:revision>
  <dcterms:created xsi:type="dcterms:W3CDTF">2025-12-16T22:22:24Z</dcterms:created>
  <dcterms:modified xsi:type="dcterms:W3CDTF">2025-12-18T15:55:54Z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{"Label":"Преодоление бесплодных плато в VQA","ContentProducer":"001191110108MACG2KBH8F10000","ProduceID":"d50tll1kotd00jpb34u0","ReservedCode1":"","ContentPropagator":"001191110108MACG2KBH8F20000","PropagateID":"d50tll1kotd00jpb34u0","ReservedCode2":""}</vt:lpwstr>
  </property>
</Properties>
</file>